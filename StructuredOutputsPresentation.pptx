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86" r:id="rId2"/>
    <p:sldId id="295" r:id="rId3"/>
    <p:sldId id="287" r:id="rId4"/>
    <p:sldId id="299" r:id="rId5"/>
    <p:sldId id="289" r:id="rId6"/>
    <p:sldId id="290" r:id="rId7"/>
    <p:sldId id="292" r:id="rId8"/>
    <p:sldId id="300" r:id="rId9"/>
    <p:sldId id="294" r:id="rId10"/>
    <p:sldId id="293" r:id="rId11"/>
    <p:sldId id="296" r:id="rId12"/>
    <p:sldId id="301" r:id="rId13"/>
    <p:sldId id="2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94659"/>
  </p:normalViewPr>
  <p:slideViewPr>
    <p:cSldViewPr snapToGrid="0">
      <p:cViewPr varScale="1">
        <p:scale>
          <a:sx n="78" d="100"/>
          <a:sy n="78" d="100"/>
        </p:scale>
        <p:origin x="9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C878C-02BE-2F43-94F8-46D3EF9479C9}"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0C7B46-B846-A348-9064-FED6B77E16F6}" type="slidenum">
              <a:rPr lang="en-US" smtClean="0"/>
              <a:t>‹Nr.›</a:t>
            </a:fld>
            <a:endParaRPr lang="en-US"/>
          </a:p>
        </p:txBody>
      </p:sp>
    </p:spTree>
    <p:extLst>
      <p:ext uri="{BB962C8B-B14F-4D97-AF65-F5344CB8AC3E}">
        <p14:creationId xmlns:p14="http://schemas.microsoft.com/office/powerpoint/2010/main" val="1075574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Welcome everyone. Today we'll explore OpenAI's Structured Outputs — what they are, why they matter, and how to use them effectively in production systems.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DEMO: Real customer case study showing how switching from unstructured to structured responses improved their chatbot UX. Before: plain text blobs. After: rich UI components with cards, tables, and charts.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AT"/>
          </a:p>
        </p:txBody>
      </p:sp>
      <p:sp>
        <p:nvSpPr>
          <p:cNvPr id="3" name="Notes Placeholder 2"/>
          <p:cNvSpPr>
            <a:spLocks noGrp="1"/>
          </p:cNvSpPr>
          <p:nvPr>
            <p:ph type="body" idx="1"/>
          </p:nvPr>
        </p:nvSpPr>
        <p:spPr/>
        <p:txBody>
          <a:bodyPr/>
          <a:lstStyle/>
          <a:p>
            <a:r>
              <a:rPr lang="en-US" dirty="0"/>
              <a:t>Here's our roadmap for the next 60 minutes. We'll start with the concepts, explore the underlying technology, then jump into four live demos showing real-world applications.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Structured Outputs constrain the LLM's response to match a predefined JSON Schema. Every response is guaranteed to be valid, parseable, and type-safe. No more regex parsing or retry loops.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The core problem: free-text LLM responses are inherently unpredictable. This causes crashes, parsing errors, and fragile glue code. Structured Outputs solve this at the model level.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Full toolkit overview: JSON Mode for basic validity, Structured Outputs for full schema enforcement, Function Calling with validation, and Pydantic integration for Python developers. Available in Python, Node.js, and REST.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DEMO: Upload a real PDF contract and extract structured data including parties, dates, clauses, and obligations using a Pydantic model that defines the extraction schema. Show the before and after.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Under the hood, OpenAI converts your JSON Schema into a Context-Free Grammar. During token generation, the model can only sample tokens valid according to the grammar. Tools like Lark let you define custom grammars beyond JSON.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DEMO: Define a custom Lark grammar to constrain outputs beyond JSON. Think SQL queries, custom DSLs, or domain-specific formats. Show the grammar definition and API integration.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DEMO: Define tools with strict JSON Schema parameters and show how the model generates validated function arguments. No JSON.parse needed, no try-catch blocks. Show the Python SDK code.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Five key takeaways: 1) Reliability with 100% compliance, 2) Simplicity by removing boilerplate, 3) Versatility across formats, 4) Production-readiness with SDK support, 5) Real business impact on UX and costs.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Open the floor for questions. Be ready to discuss specific use cases, implementation challenges, performance considerations, and architectural decisions around Structured Outputs.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txBody>
          <a:bodyPr/>
          <a:lstStyle/>
          <a:p>
            <a:endParaRPr lang="de-AT"/>
          </a:p>
        </p:txBody>
      </p:sp>
      <p:sp>
        <p:nvSpPr>
          <p:cNvPr id="3" name="Notes"/>
          <p:cNvSpPr>
            <a:spLocks noGrp="1"/>
          </p:cNvSpPr>
          <p:nvPr>
            <p:ph type="body" idx="1"/>
          </p:nvPr>
        </p:nvSpPr>
        <p:spPr/>
        <p:txBody>
          <a:bodyPr/>
          <a:lstStyle/>
          <a:p>
            <a:r>
              <a:rPr lang="en-US" dirty="0"/>
              <a:t>Thank you for attending! Start experimenting with Structured Outputs today. The setup is minimal and the benefits are immediate. Share your contact info and offer to follow up on specific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9D955-447F-3A5C-CC22-2AEFEEA871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4EBCE4-0743-2ACB-FEE7-C0FFF9582A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FA5414-4890-6AD6-4292-1C244797036A}"/>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3F9BC16D-F13F-0C78-70DD-DD17572565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1E75F-A5F3-4250-9A79-76F4C3DD7596}"/>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391895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0A73F-A1D9-05D8-8175-F6D11ECD5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6A331F-CD1E-BF9D-83CC-1DC4CBBA59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89446B-F986-DC7D-C0D5-2011CF9A0FB9}"/>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87CE1AD4-A814-70FF-A12F-8FBCD36BE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990710-1558-D99F-434D-B61D8513C540}"/>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17180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D8BCD-4151-A7C2-F7D4-7F230BC89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55A108-3C2B-349E-F4B2-725431175F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44BF67-A81B-36DF-023E-93C9DFFA3619}"/>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3DA29586-F395-876E-EFC2-D1411C1E60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087ED-47D4-D9CE-9BC7-AFF01C00F48A}"/>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288784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BB05-D3C3-E832-DEDE-6893E97B85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1B104E-26B7-DD9E-C373-B3AC6CDA4D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BEC0F8-53B2-4E9D-3E58-82EE26DE03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5D3DA9-83CA-09ED-1660-2BBD669273F2}"/>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6" name="Footer Placeholder 5">
            <a:extLst>
              <a:ext uri="{FF2B5EF4-FFF2-40B4-BE49-F238E27FC236}">
                <a16:creationId xmlns:a16="http://schemas.microsoft.com/office/drawing/2014/main" id="{97125863-611A-C842-A831-5D011E72BF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BFED60-9EE1-1A74-E179-8A9ADD65375B}"/>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2233364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62CE-B346-7996-77FA-97F6327A70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6B0037-4756-EA2E-3C41-98A21A87A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C761FD-0448-B053-43A6-444D500A55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FE5581-6572-2067-D908-CC6C701031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28F8E8-B422-D491-503D-85615AA10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4E4BC6-876D-D501-B72E-E3B2185E823A}"/>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8" name="Footer Placeholder 7">
            <a:extLst>
              <a:ext uri="{FF2B5EF4-FFF2-40B4-BE49-F238E27FC236}">
                <a16:creationId xmlns:a16="http://schemas.microsoft.com/office/drawing/2014/main" id="{099B8D98-ADF6-D1FB-7097-1329970B2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25F449-2F7F-1765-0048-986EE5502873}"/>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3335382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DF7A-7BD6-2DEB-1D46-9BFE2C6633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D45BEA-29CF-C668-45A4-D803B607AB21}"/>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4" name="Footer Placeholder 3">
            <a:extLst>
              <a:ext uri="{FF2B5EF4-FFF2-40B4-BE49-F238E27FC236}">
                <a16:creationId xmlns:a16="http://schemas.microsoft.com/office/drawing/2014/main" id="{5A0F9632-4D63-DE3C-BCBF-1592650E9D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29D165-3BC5-8C6E-7027-731CC876FF12}"/>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083786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14603F-586D-DA0A-B69B-63E236D8D4F6}"/>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3" name="Footer Placeholder 2">
            <a:extLst>
              <a:ext uri="{FF2B5EF4-FFF2-40B4-BE49-F238E27FC236}">
                <a16:creationId xmlns:a16="http://schemas.microsoft.com/office/drawing/2014/main" id="{FACD64C0-2874-E724-A15E-E518EE724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FEE129-8D0B-340C-8203-B6CB7BA4F21E}"/>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075696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CACBF-2F89-6360-C535-2719DEE80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09AEF0-3631-E06E-EB4B-EA5F5E21E8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4F9A2B-3EE9-F369-E89F-8E77CF441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A9B22-0ADD-7AE8-94E3-EADE6A5B7B56}"/>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6" name="Footer Placeholder 5">
            <a:extLst>
              <a:ext uri="{FF2B5EF4-FFF2-40B4-BE49-F238E27FC236}">
                <a16:creationId xmlns:a16="http://schemas.microsoft.com/office/drawing/2014/main" id="{F8DF5A39-EC69-D4D0-F193-B6BB28215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AF2B8-2ED4-333F-43E8-E7010412F645}"/>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2163065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75912-C772-BA76-9464-194E0989C6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774BFD-7777-7FC2-C618-FFC6793A6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6592E1-8149-7980-FC0F-9D3DA46E1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CD0415-AC1B-360C-FAD0-8AD9E3ACFD03}"/>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6" name="Footer Placeholder 5">
            <a:extLst>
              <a:ext uri="{FF2B5EF4-FFF2-40B4-BE49-F238E27FC236}">
                <a16:creationId xmlns:a16="http://schemas.microsoft.com/office/drawing/2014/main" id="{C4D993AB-9E1B-9FA5-9EA4-EE0D52D489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626AA-734D-DD15-100C-516A70E2CC37}"/>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1023971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D8EF-7789-58AB-C18D-68201529F4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741738-7802-4588-D479-96F9B947A2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9F0D11-63C1-D792-980D-420D1C09ADB8}"/>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E9281C6E-B25F-4511-1B44-56308C8656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320A5-2BAD-68A9-BEBC-B18AC6645441}"/>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15474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C15694-A083-C7B0-6161-00DEBC3156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50B73B-6AC1-6F23-5955-44D513FE2A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6C327-696B-BF25-B97E-C8A4CEAECA19}"/>
              </a:ext>
            </a:extLst>
          </p:cNvPr>
          <p:cNvSpPr>
            <a:spLocks noGrp="1"/>
          </p:cNvSpPr>
          <p:nvPr>
            <p:ph type="dt" sz="half" idx="10"/>
          </p:nvPr>
        </p:nvSpPr>
        <p:spPr/>
        <p:txBody>
          <a:body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B7B9E08F-4C2C-A079-10A6-325D85C78D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1D05DF-FD4E-9048-7B5F-33A0643F819E}"/>
              </a:ext>
            </a:extLst>
          </p:cNvPr>
          <p:cNvSpPr>
            <a:spLocks noGrp="1"/>
          </p:cNvSpPr>
          <p:nvPr>
            <p:ph type="sldNum" sz="quarter" idx="12"/>
          </p:nvPr>
        </p:nvSpPr>
        <p:spPr/>
        <p:txBody>
          <a:bodyPr/>
          <a:lstStyle/>
          <a:p>
            <a:fld id="{B8BE4625-1107-D842-9702-AAB5F85CA91C}" type="slidenum">
              <a:rPr lang="en-US" smtClean="0"/>
              <a:t>‹Nr.›</a:t>
            </a:fld>
            <a:endParaRPr lang="en-US"/>
          </a:p>
        </p:txBody>
      </p:sp>
    </p:spTree>
    <p:extLst>
      <p:ext uri="{BB962C8B-B14F-4D97-AF65-F5344CB8AC3E}">
        <p14:creationId xmlns:p14="http://schemas.microsoft.com/office/powerpoint/2010/main" val="4202522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57634-2826-5A4B-3B91-8D19B62A93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2330FA-8625-9BB9-9A71-63799FBC4F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52445-07D1-2174-4C59-AB8A8B1FCD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6CFDF2-F9D5-894F-BD98-0FBCA0FAAE8E}" type="datetimeFigureOut">
              <a:rPr lang="en-US" smtClean="0"/>
              <a:t>3/2/2026</a:t>
            </a:fld>
            <a:endParaRPr lang="en-US"/>
          </a:p>
        </p:txBody>
      </p:sp>
      <p:sp>
        <p:nvSpPr>
          <p:cNvPr id="5" name="Footer Placeholder 4">
            <a:extLst>
              <a:ext uri="{FF2B5EF4-FFF2-40B4-BE49-F238E27FC236}">
                <a16:creationId xmlns:a16="http://schemas.microsoft.com/office/drawing/2014/main" id="{2A6F7646-B90E-3FCC-A15A-7AAC54CFC1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701F934-73A2-1496-9729-1659CA5D2E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BE4625-1107-D842-9702-AAB5F85CA91C}" type="slidenum">
              <a:rPr lang="en-US" smtClean="0"/>
              <a:t>‹Nr.›</a:t>
            </a:fld>
            <a:endParaRPr lang="en-US"/>
          </a:p>
        </p:txBody>
      </p:sp>
      <p:sp>
        <p:nvSpPr>
          <p:cNvPr id="1001" name="AccentBar"/>
          <p:cNvSpPr/>
          <p:nvPr userDrawn="1"/>
        </p:nvSpPr>
        <p:spPr>
          <a:xfrm>
            <a:off x="0" y="6583680"/>
            <a:ext cx="12192000" cy="274320"/>
          </a:xfrm>
          <a:prstGeom prst="rect">
            <a:avLst/>
          </a:prstGeom>
          <a:gradFill>
            <a:gsLst>
              <a:gs pos="0">
                <a:srgbClr val="0052CC"/>
              </a:gs>
              <a:gs pos="50000">
                <a:srgbClr val="00A3FF"/>
              </a:gs>
              <a:gs pos="100000">
                <a:srgbClr val="0052CC"/>
              </a:gs>
            </a:gsLst>
            <a:lin ang="0" scaled="1"/>
          </a:gradFill>
          <a:ln>
            <a:noFill/>
          </a:ln>
        </p:spPr>
        <p:txBody>
          <a:bodyPr/>
          <a:lstStyle/>
          <a:p>
            <a:endParaRPr lang="en-US"/>
          </a:p>
        </p:txBody>
      </p:sp>
      <p:sp>
        <p:nvSpPr>
          <p:cNvPr id="1002" name="AccentLine"/>
          <p:cNvSpPr/>
          <p:nvPr userDrawn="1"/>
        </p:nvSpPr>
        <p:spPr>
          <a:xfrm>
            <a:off x="0" y="6537960"/>
            <a:ext cx="12192000" cy="45720"/>
          </a:xfrm>
          <a:prstGeom prst="rect">
            <a:avLst/>
          </a:prstGeom>
          <a:solidFill>
            <a:srgbClr val="FFC107"/>
          </a:solidFill>
          <a:ln>
            <a:noFill/>
          </a:ln>
        </p:spPr>
        <p:txBody>
          <a:bodyPr/>
          <a:lstStyle/>
          <a:p>
            <a:endParaRPr lang="en-US"/>
          </a:p>
        </p:txBody>
      </p:sp>
      <p:sp>
        <p:nvSpPr>
          <p:cNvPr id="1003" name="DecoSquare"/>
          <p:cNvSpPr/>
          <p:nvPr userDrawn="1"/>
        </p:nvSpPr>
        <p:spPr>
          <a:xfrm>
            <a:off x="11491920" y="0"/>
            <a:ext cx="700080" cy="700080"/>
          </a:xfrm>
          <a:prstGeom prst="rect">
            <a:avLst/>
          </a:prstGeom>
          <a:solidFill>
            <a:srgbClr val="0052CC">
              <a:alpha val="12000"/>
            </a:srgbClr>
          </a:solidFill>
          <a:ln>
            <a:noFill/>
          </a:ln>
        </p:spPr>
        <p:txBody>
          <a:bodyPr/>
          <a:lstStyle/>
          <a:p>
            <a:endParaRPr lang="en-US"/>
          </a:p>
        </p:txBody>
      </p:sp>
    </p:spTree>
    <p:extLst>
      <p:ext uri="{BB962C8B-B14F-4D97-AF65-F5344CB8AC3E}">
        <p14:creationId xmlns:p14="http://schemas.microsoft.com/office/powerpoint/2010/main" val="302834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2E2E2E"/>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E2E2E"/>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E2E2E"/>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E2E2E"/>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2E2E2E"/>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rstropek/openai-structured-output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latform.claude.com/docs/en/build-with-claude/structured-outpu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docs.litellm.ai/docs/completion/json_mode" TargetMode="External"/><Relationship Id="rId4" Type="http://schemas.openxmlformats.org/officeDocument/2006/relationships/hyperlink" Target="https://ai-sdk.dev/docs/ai-sdk-core/generating-structured-data"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lark-parser.readthedocs.io/en/stabl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docs.rs/regex/latest/regex/#syntax"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1A4D"/>
            </a:gs>
            <a:gs pos="100000">
              <a:srgbClr val="0052CC"/>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EF95-D023-DDB4-465C-BF0039974D65}"/>
              </a:ext>
            </a:extLst>
          </p:cNvPr>
          <p:cNvSpPr>
            <a:spLocks noGrp="1"/>
          </p:cNvSpPr>
          <p:nvPr>
            <p:ph type="ctrTitle"/>
          </p:nvPr>
        </p:nvSpPr>
        <p:spPr>
          <a:xfrm>
            <a:off x="1905000" y="1778000"/>
            <a:ext cx="8382000" cy="1270000"/>
          </a:xfrm>
        </p:spPr>
        <p:txBody>
          <a:bodyPr>
            <a:normAutofit/>
          </a:bodyPr>
          <a:lstStyle/>
          <a:p>
            <a:r>
              <a:rPr lang="en-US" sz="3600" b="1">
                <a:solidFill>
                  <a:srgbClr val="FFFFFF"/>
                </a:solidFill>
              </a:rPr>
              <a:t>Structured Outputs with OpenAI</a:t>
            </a:r>
          </a:p>
        </p:txBody>
      </p:sp>
      <p:sp>
        <p:nvSpPr>
          <p:cNvPr id="3" name="Subtitle 2">
            <a:extLst>
              <a:ext uri="{FF2B5EF4-FFF2-40B4-BE49-F238E27FC236}">
                <a16:creationId xmlns:a16="http://schemas.microsoft.com/office/drawing/2014/main" id="{CF71089B-83DC-CE8B-7705-EED4CC411690}"/>
              </a:ext>
            </a:extLst>
          </p:cNvPr>
          <p:cNvSpPr>
            <a:spLocks noGrp="1"/>
          </p:cNvSpPr>
          <p:nvPr>
            <p:ph type="subTitle" idx="1"/>
          </p:nvPr>
        </p:nvSpPr>
        <p:spPr>
          <a:xfrm>
            <a:off x="1905000" y="3175000"/>
            <a:ext cx="8382000" cy="635000"/>
          </a:xfrm>
        </p:spPr>
        <p:txBody>
          <a:bodyPr>
            <a:normAutofit/>
          </a:bodyPr>
          <a:lstStyle/>
          <a:p>
            <a:r>
              <a:rPr lang="en-US" sz="2000">
                <a:solidFill>
                  <a:srgbClr val="FFC107"/>
                </a:solidFill>
              </a:rPr>
              <a:t>Technology, Practice, and Benefits</a:t>
            </a:r>
          </a:p>
        </p:txBody>
      </p:sp>
      <p:sp>
        <p:nvSpPr>
          <p:cNvPr id="50" name="TitleAccent"/>
          <p:cNvSpPr/>
          <p:nvPr/>
        </p:nvSpPr>
        <p:spPr>
          <a:xfrm>
            <a:off x="4191000" y="3937000"/>
            <a:ext cx="3810000" cy="45720"/>
          </a:xfrm>
          <a:prstGeom prst="rect">
            <a:avLst/>
          </a:prstGeom>
          <a:solidFill>
            <a:srgbClr val="FFC107"/>
          </a:solidFill>
          <a:ln>
            <a:noFill/>
          </a:ln>
        </p:spPr>
        <p:txBody>
          <a:bodyPr/>
          <a:lstStyle/>
          <a:p>
            <a:endParaRPr lang="en-US"/>
          </a:p>
        </p:txBody>
      </p:sp>
      <p:sp>
        <p:nvSpPr>
          <p:cNvPr id="53" name="BottomInfo"/>
          <p:cNvSpPr/>
          <p:nvPr/>
        </p:nvSpPr>
        <p:spPr>
          <a:xfrm>
            <a:off x="2540000" y="4699000"/>
            <a:ext cx="7112000" cy="457200"/>
          </a:xfrm>
          <a:prstGeom prst="rect">
            <a:avLst/>
          </a:prstGeom>
          <a:noFill/>
          <a:ln>
            <a:noFill/>
          </a:ln>
        </p:spPr>
        <p:txBody>
          <a:bodyPr anchor="ctr"/>
          <a:lstStyle/>
          <a:p>
            <a:pPr algn="ctr"/>
            <a:r>
              <a:rPr lang="en-US" sz="1400" dirty="0">
                <a:solidFill>
                  <a:srgbClr val="FFFFFF">
                    <a:alpha val="70000"/>
                  </a:srgbClr>
                </a:solidFill>
                <a:latin typeface="Segoe UI"/>
              </a:rPr>
              <a:t>Melanie Bauer</a:t>
            </a:r>
            <a:br>
              <a:rPr lang="en-US" sz="1400" dirty="0">
                <a:solidFill>
                  <a:srgbClr val="FFFFFF">
                    <a:alpha val="70000"/>
                  </a:srgbClr>
                </a:solidFill>
                <a:latin typeface="Segoe UI"/>
              </a:rPr>
            </a:br>
            <a:r>
              <a:rPr lang="en-US" sz="1400" dirty="0">
                <a:solidFill>
                  <a:srgbClr val="FFFFFF">
                    <a:alpha val="70000"/>
                  </a:srgbClr>
                </a:solidFill>
                <a:latin typeface="Segoe UI"/>
              </a:rPr>
              <a:t>software architects </a:t>
            </a:r>
            <a:r>
              <a:rPr lang="en-US" sz="1400" dirty="0" err="1">
                <a:solidFill>
                  <a:srgbClr val="FFFFFF">
                    <a:alpha val="70000"/>
                  </a:srgbClr>
                </a:solidFill>
                <a:latin typeface="Segoe UI"/>
              </a:rPr>
              <a:t>gmbh</a:t>
            </a:r>
            <a:endParaRPr lang="en-US" sz="1400" dirty="0">
              <a:solidFill>
                <a:srgbClr val="FFFFFF">
                  <a:alpha val="70000"/>
                </a:srgbClr>
              </a:solidFill>
              <a:latin typeface="Segoe UI"/>
            </a:endParaRPr>
          </a:p>
        </p:txBody>
      </p:sp>
    </p:spTree>
    <p:extLst>
      <p:ext uri="{BB962C8B-B14F-4D97-AF65-F5344CB8AC3E}">
        <p14:creationId xmlns:p14="http://schemas.microsoft.com/office/powerpoint/2010/main" val="984761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1A4D">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E2DD-D5B6-41DA-9146-7F6C3B12DC0B}"/>
              </a:ext>
            </a:extLst>
          </p:cNvPr>
          <p:cNvSpPr>
            <a:spLocks noGrp="1"/>
          </p:cNvSpPr>
          <p:nvPr>
            <p:ph type="title"/>
          </p:nvPr>
        </p:nvSpPr>
        <p:spPr>
          <a:xfrm>
            <a:off x="831850" y="1016000"/>
            <a:ext cx="10515600" cy="1524000"/>
          </a:xfrm>
        </p:spPr>
        <p:txBody>
          <a:bodyPr>
            <a:normAutofit/>
          </a:bodyPr>
          <a:lstStyle/>
          <a:p>
            <a:r>
              <a:rPr lang="en-US" sz="2800" b="1">
                <a:solidFill>
                  <a:srgbClr val="FFFFFF"/>
                </a:solidFill>
              </a:rPr>
              <a:t>Demo: Customer UX Improvement</a:t>
            </a:r>
          </a:p>
        </p:txBody>
      </p:sp>
      <p:sp>
        <p:nvSpPr>
          <p:cNvPr id="3" name="Text Placeholder 2">
            <a:extLst>
              <a:ext uri="{FF2B5EF4-FFF2-40B4-BE49-F238E27FC236}">
                <a16:creationId xmlns:a16="http://schemas.microsoft.com/office/drawing/2014/main" id="{24AD6B3E-F152-1EFE-C88F-8D045166FE2C}"/>
              </a:ext>
            </a:extLst>
          </p:cNvPr>
          <p:cNvSpPr>
            <a:spLocks noGrp="1"/>
          </p:cNvSpPr>
          <p:nvPr>
            <p:ph type="body" idx="1"/>
          </p:nvPr>
        </p:nvSpPr>
        <p:spPr>
          <a:xfrm>
            <a:off x="831850" y="2540000"/>
            <a:ext cx="10515600" cy="762000"/>
          </a:xfrm>
        </p:spPr>
        <p:txBody>
          <a:bodyPr>
            <a:normAutofit/>
          </a:bodyPr>
          <a:lstStyle/>
          <a:p>
            <a:r>
              <a:rPr lang="en-US" sz="1800">
                <a:solidFill>
                  <a:srgbClr val="00A3FF"/>
                </a:solidFill>
              </a:rPr>
              <a:t>Real-world example of how Structured Outputs transformed a customer-facing application</a:t>
            </a:r>
          </a:p>
        </p:txBody>
      </p:sp>
      <p:sp>
        <p:nvSpPr>
          <p:cNvPr id="60" name="DemoBadge"/>
          <p:cNvSpPr/>
          <p:nvPr/>
        </p:nvSpPr>
        <p:spPr>
          <a:xfrm>
            <a:off x="457200" y="254000"/>
            <a:ext cx="2286000" cy="457200"/>
          </a:xfrm>
          <a:prstGeom prst="roundRect">
            <a:avLst>
              <a:gd name="adj" fmla="val 16667"/>
            </a:avLst>
          </a:prstGeom>
          <a:solidFill>
            <a:srgbClr val="FFC107"/>
          </a:solidFill>
          <a:ln>
            <a:noFill/>
          </a:ln>
        </p:spPr>
        <p:txBody>
          <a:bodyPr anchor="ctr" anchorCtr="1"/>
          <a:lstStyle/>
          <a:p>
            <a:pPr algn="ctr"/>
            <a:r>
              <a:rPr lang="en-US" sz="1800" b="1" dirty="0">
                <a:solidFill>
                  <a:srgbClr val="001A4D"/>
                </a:solidFill>
                <a:latin typeface="Segoe UI Semibold"/>
              </a:rPr>
              <a:t>▶  LIVE DEMO</a:t>
            </a:r>
          </a:p>
        </p:txBody>
      </p:sp>
      <p:sp>
        <p:nvSpPr>
          <p:cNvPr id="61" name="KeyPoints"/>
          <p:cNvSpPr/>
          <p:nvPr/>
        </p:nvSpPr>
        <p:spPr>
          <a:xfrm>
            <a:off x="457200" y="3556000"/>
            <a:ext cx="11277600" cy="1270000"/>
          </a:xfrm>
          <a:prstGeom prst="roundRect">
            <a:avLst>
              <a:gd name="adj" fmla="val 8333"/>
            </a:avLst>
          </a:prstGeom>
          <a:solidFill>
            <a:srgbClr val="FFFFFF">
              <a:alpha val="10000"/>
            </a:srgbClr>
          </a:solidFill>
          <a:ln w="12700">
            <a:solidFill>
              <a:srgbClr val="00A3FF">
                <a:alpha val="40000"/>
              </a:srgbClr>
            </a:solidFill>
          </a:ln>
        </p:spPr>
        <p:txBody>
          <a:bodyPr lIns="182880" tIns="91440" rIns="182880" bIns="91440" anchor="t"/>
          <a:lstStyle/>
          <a:p>
            <a:pPr>
              <a:buFont typeface="Arial"/>
              <a:buChar char="▸"/>
            </a:pPr>
            <a:r>
              <a:rPr lang="en-US" sz="2000" dirty="0">
                <a:solidFill>
                  <a:srgbClr val="FFFFFF"/>
                </a:solidFill>
                <a:latin typeface="Segoe UI"/>
              </a:rPr>
              <a:t>Before: unstructured chatbot responses with inconsistent UI rendering</a:t>
            </a:r>
          </a:p>
          <a:p>
            <a:pPr>
              <a:buFont typeface="Arial"/>
              <a:buChar char="▸"/>
            </a:pPr>
            <a:endParaRPr lang="en-US" sz="2000" dirty="0">
              <a:solidFill>
                <a:srgbClr val="FFFFFF"/>
              </a:solidFill>
              <a:latin typeface="Segoe UI"/>
            </a:endParaRPr>
          </a:p>
          <a:p>
            <a:pPr>
              <a:buFont typeface="Arial"/>
              <a:buChar char="▸"/>
            </a:pPr>
            <a:r>
              <a:rPr lang="en-US" sz="2000" dirty="0">
                <a:solidFill>
                  <a:srgbClr val="FFFFFF"/>
                </a:solidFill>
                <a:latin typeface="Segoe UI"/>
              </a:rPr>
              <a:t>After: structured response → UI components can be filled with structured data</a:t>
            </a:r>
          </a:p>
        </p:txBody>
      </p:sp>
    </p:spTree>
    <p:extLst>
      <p:ext uri="{BB962C8B-B14F-4D97-AF65-F5344CB8AC3E}">
        <p14:creationId xmlns:p14="http://schemas.microsoft.com/office/powerpoint/2010/main" val="2311963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B5D-3BE6-AADE-963F-ED180D6031EA}"/>
              </a:ext>
            </a:extLst>
          </p:cNvPr>
          <p:cNvSpPr>
            <a:spLocks noGrp="1"/>
          </p:cNvSpPr>
          <p:nvPr>
            <p:ph type="title"/>
          </p:nvPr>
        </p:nvSpPr>
        <p:spPr/>
        <p:txBody>
          <a:bodyPr>
            <a:normAutofit/>
          </a:bodyPr>
          <a:lstStyle/>
          <a:p>
            <a:r>
              <a:rPr lang="en-US" sz="3200" b="1" dirty="0">
                <a:solidFill>
                  <a:srgbClr val="0052CC"/>
                </a:solidFill>
              </a:rPr>
              <a:t>Agenda</a:t>
            </a:r>
          </a:p>
        </p:txBody>
      </p:sp>
      <p:sp>
        <p:nvSpPr>
          <p:cNvPr id="3" name="Content Placeholder 2">
            <a:extLst>
              <a:ext uri="{FF2B5EF4-FFF2-40B4-BE49-F238E27FC236}">
                <a16:creationId xmlns:a16="http://schemas.microsoft.com/office/drawing/2014/main" id="{FDFE5B8B-2B52-68A5-9EC9-F1D8CF69B902}"/>
              </a:ext>
            </a:extLst>
          </p:cNvPr>
          <p:cNvSpPr>
            <a:spLocks noGrp="1"/>
          </p:cNvSpPr>
          <p:nvPr>
            <p:ph idx="1"/>
          </p:nvPr>
        </p:nvSpPr>
        <p:spPr>
          <a:xfrm>
            <a:off x="838200" y="1905000"/>
            <a:ext cx="10515600" cy="4191000"/>
          </a:xfrm>
        </p:spPr>
        <p:txBody>
          <a:bodyPr>
            <a:normAutofit/>
          </a:bodyPr>
          <a:lstStyle/>
          <a:p>
            <a:pPr>
              <a:buFont typeface="Segoe UI Semibold"/>
              <a:buAutoNum type="arabicPeriod"/>
            </a:pPr>
            <a:r>
              <a:rPr lang="en-US" sz="2400" dirty="0">
                <a:solidFill>
                  <a:srgbClr val="2E2E2E"/>
                </a:solidFill>
                <a:latin typeface="Segoe UI"/>
              </a:rPr>
              <a:t> What is Structured Output?</a:t>
            </a:r>
          </a:p>
          <a:p>
            <a:pPr>
              <a:buFont typeface="Segoe UI Semibold"/>
              <a:buAutoNum type="arabicPeriod"/>
            </a:pPr>
            <a:r>
              <a:rPr lang="en-US" sz="2400" dirty="0">
                <a:solidFill>
                  <a:srgbClr val="2E2E2E"/>
                </a:solidFill>
                <a:latin typeface="Segoe UI"/>
              </a:rPr>
              <a:t> Motivation: Why Structured Output?</a:t>
            </a:r>
          </a:p>
          <a:p>
            <a:pPr>
              <a:buFont typeface="Segoe UI Semibold"/>
              <a:buAutoNum type="arabicPeriod"/>
            </a:pPr>
            <a:r>
              <a:rPr lang="en-US" sz="2400" dirty="0">
                <a:solidFill>
                  <a:srgbClr val="2E2E2E"/>
                </a:solidFill>
                <a:latin typeface="Segoe UI"/>
              </a:rPr>
              <a:t> Usages Overview</a:t>
            </a:r>
          </a:p>
          <a:p>
            <a:pPr>
              <a:buFont typeface="Segoe UI Semibold"/>
              <a:buAutoNum type="arabicPeriod"/>
            </a:pPr>
            <a:r>
              <a:rPr lang="en-US" sz="2400" dirty="0">
                <a:solidFill>
                  <a:srgbClr val="2E2E2E"/>
                </a:solidFill>
                <a:latin typeface="Segoe UI"/>
              </a:rPr>
              <a:t> Context-Free Grammar (CFG)</a:t>
            </a:r>
          </a:p>
          <a:p>
            <a:pPr>
              <a:buFont typeface="Segoe UI Semibold"/>
              <a:buAutoNum type="arabicPeriod"/>
            </a:pPr>
            <a:r>
              <a:rPr lang="en-US" sz="2400" dirty="0">
                <a:latin typeface="Segoe UI"/>
              </a:rPr>
              <a:t> </a:t>
            </a:r>
            <a:r>
              <a:rPr lang="en-US" sz="2400" dirty="0">
                <a:solidFill>
                  <a:srgbClr val="0052CC"/>
                </a:solidFill>
                <a:ea typeface="+mj-ea"/>
                <a:cs typeface="+mj-cs"/>
                <a:hlinkClick r:id="rId3">
                  <a:extLst>
                    <a:ext uri="{A12FA001-AC4F-418D-AE19-62706E023703}">
                      <ahyp:hlinkClr xmlns:ahyp="http://schemas.microsoft.com/office/drawing/2018/hyperlinkcolor" val="tx"/>
                    </a:ext>
                  </a:extLst>
                </a:hlinkClick>
              </a:rPr>
              <a:t>Demos:</a:t>
            </a:r>
            <a:r>
              <a:rPr lang="en-US" sz="2400" dirty="0">
                <a:solidFill>
                  <a:srgbClr val="0052CC"/>
                </a:solidFill>
                <a:ea typeface="+mj-ea"/>
                <a:cs typeface="+mj-cs"/>
              </a:rPr>
              <a:t> </a:t>
            </a:r>
            <a:r>
              <a:rPr lang="en-US" sz="2400" dirty="0">
                <a:solidFill>
                  <a:srgbClr val="2E2E2E"/>
                </a:solidFill>
                <a:latin typeface="Segoe UI"/>
              </a:rPr>
              <a:t>Contract Extraction, Function Calling, Lark CFG, Real-World UX</a:t>
            </a:r>
          </a:p>
          <a:p>
            <a:pPr>
              <a:buFont typeface="Segoe UI Semibold"/>
              <a:buAutoNum type="arabicPeriod"/>
            </a:pPr>
            <a:r>
              <a:rPr lang="en-US" sz="2400" dirty="0">
                <a:solidFill>
                  <a:srgbClr val="2E2E2E"/>
                </a:solidFill>
                <a:latin typeface="Segoe UI"/>
              </a:rPr>
              <a:t> Summary</a:t>
            </a:r>
            <a:r>
              <a:rPr lang="en-US" sz="2400" dirty="0">
                <a:solidFill>
                  <a:schemeClr val="tx1"/>
                </a:solidFill>
                <a:latin typeface="Segoe UI"/>
              </a:rPr>
              <a:t> &amp; </a:t>
            </a:r>
            <a:r>
              <a:rPr lang="en-US" sz="2400" dirty="0">
                <a:solidFill>
                  <a:srgbClr val="2E2E2E"/>
                </a:solidFill>
                <a:latin typeface="Segoe UI"/>
              </a:rPr>
              <a:t>Takeaways</a:t>
            </a:r>
          </a:p>
          <a:p>
            <a:pPr>
              <a:buFont typeface="Segoe UI Semibold"/>
              <a:buAutoNum type="arabicPeriod"/>
            </a:pPr>
            <a:r>
              <a:rPr lang="en-US" sz="2400" dirty="0">
                <a:solidFill>
                  <a:srgbClr val="2E2E2E"/>
                </a:solidFill>
                <a:latin typeface="Segoe UI"/>
              </a:rPr>
              <a:t> Q&amp;A</a:t>
            </a:r>
          </a:p>
        </p:txBody>
      </p:sp>
    </p:spTree>
    <p:extLst>
      <p:ext uri="{BB962C8B-B14F-4D97-AF65-F5344CB8AC3E}">
        <p14:creationId xmlns:p14="http://schemas.microsoft.com/office/powerpoint/2010/main" val="1075574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70657-8670-1F48-0E1D-E014DD80B467}"/>
              </a:ext>
            </a:extLst>
          </p:cNvPr>
          <p:cNvSpPr>
            <a:spLocks noGrp="1"/>
          </p:cNvSpPr>
          <p:nvPr>
            <p:ph type="title"/>
          </p:nvPr>
        </p:nvSpPr>
        <p:spPr/>
        <p:txBody>
          <a:bodyPr>
            <a:normAutofit/>
          </a:bodyPr>
          <a:lstStyle/>
          <a:p>
            <a:r>
              <a:rPr lang="en-US" sz="3200" b="1">
                <a:solidFill>
                  <a:srgbClr val="0052CC"/>
                </a:solidFill>
              </a:rPr>
              <a:t>What is Structured Output?</a:t>
            </a:r>
          </a:p>
        </p:txBody>
      </p:sp>
      <p:sp>
        <p:nvSpPr>
          <p:cNvPr id="3" name="Content Placeholder 2">
            <a:extLst>
              <a:ext uri="{FF2B5EF4-FFF2-40B4-BE49-F238E27FC236}">
                <a16:creationId xmlns:a16="http://schemas.microsoft.com/office/drawing/2014/main" id="{8FF70A8E-8EC8-5836-4570-D63A701090BB}"/>
              </a:ext>
            </a:extLst>
          </p:cNvPr>
          <p:cNvSpPr>
            <a:spLocks noGrp="1"/>
          </p:cNvSpPr>
          <p:nvPr>
            <p:ph idx="1"/>
          </p:nvPr>
        </p:nvSpPr>
        <p:spPr>
          <a:xfrm>
            <a:off x="838200" y="1484671"/>
            <a:ext cx="10515600" cy="4611329"/>
          </a:xfrm>
        </p:spPr>
        <p:txBody>
          <a:bodyPr>
            <a:normAutofit/>
          </a:bodyPr>
          <a:lstStyle/>
          <a:p>
            <a:pPr>
              <a:buNone/>
            </a:pPr>
            <a:r>
              <a:rPr lang="en-US" sz="2000" b="1" dirty="0">
                <a:solidFill>
                  <a:srgbClr val="0052CC"/>
                </a:solidFill>
                <a:latin typeface="Segoe UI Semibold"/>
              </a:rPr>
              <a:t>Definition</a:t>
            </a:r>
          </a:p>
          <a:p>
            <a:pPr>
              <a:buFont typeface="Arial"/>
              <a:buChar char="▸"/>
            </a:pPr>
            <a:r>
              <a:rPr lang="en-US" sz="2000" dirty="0">
                <a:solidFill>
                  <a:srgbClr val="2E2E2E"/>
                </a:solidFill>
                <a:latin typeface="Segoe UI"/>
              </a:rPr>
              <a:t>LLM responses constrained to a </a:t>
            </a:r>
            <a:r>
              <a:rPr lang="en-US" sz="2000" b="1" dirty="0">
                <a:solidFill>
                  <a:srgbClr val="0052CC"/>
                </a:solidFill>
                <a:latin typeface="Segoe UI"/>
              </a:rPr>
              <a:t>predefined JSON Schema</a:t>
            </a:r>
          </a:p>
          <a:p>
            <a:pPr>
              <a:buFont typeface="Arial"/>
              <a:buChar char="▸"/>
            </a:pPr>
            <a:r>
              <a:rPr lang="en-US" sz="2000" dirty="0">
                <a:solidFill>
                  <a:srgbClr val="2E2E2E"/>
                </a:solidFill>
                <a:latin typeface="Segoe UI"/>
              </a:rPr>
              <a:t>Guarantees </a:t>
            </a:r>
            <a:r>
              <a:rPr lang="en-US" sz="2000" b="1" dirty="0">
                <a:solidFill>
                  <a:srgbClr val="0052CC"/>
                </a:solidFill>
                <a:latin typeface="Segoe UI"/>
              </a:rPr>
              <a:t>type-safe, parseable output</a:t>
            </a:r>
            <a:r>
              <a:rPr lang="en-US" sz="2000" dirty="0">
                <a:solidFill>
                  <a:srgbClr val="2E2E2E"/>
                </a:solidFill>
                <a:latin typeface="Segoe UI"/>
              </a:rPr>
              <a:t> every time</a:t>
            </a:r>
          </a:p>
          <a:p>
            <a:pPr>
              <a:buFont typeface="Arial"/>
              <a:buChar char="▸"/>
            </a:pPr>
            <a:r>
              <a:rPr lang="en-US" sz="2000" dirty="0">
                <a:solidFill>
                  <a:srgbClr val="2E2E2E"/>
                </a:solidFill>
                <a:latin typeface="Segoe UI"/>
              </a:rPr>
              <a:t>Eliminates post-processing, regex, and retry logic</a:t>
            </a:r>
          </a:p>
          <a:p>
            <a:pPr>
              <a:buFont typeface="Arial"/>
              <a:buChar char="▸"/>
            </a:pPr>
            <a:endParaRPr lang="en-US" sz="2000" dirty="0">
              <a:latin typeface="Segoe UI"/>
            </a:endParaRPr>
          </a:p>
          <a:p>
            <a:pPr marL="0" indent="0">
              <a:buNone/>
            </a:pPr>
            <a:r>
              <a:rPr lang="en-US" sz="2000" b="1" dirty="0">
                <a:solidFill>
                  <a:srgbClr val="0052CC"/>
                </a:solidFill>
                <a:latin typeface="Segoe UI Semibold"/>
              </a:rPr>
              <a:t>In this talk we focus on OpenAI</a:t>
            </a:r>
          </a:p>
          <a:p>
            <a:pPr>
              <a:buFont typeface="Arial"/>
              <a:buChar char="▸"/>
            </a:pPr>
            <a:r>
              <a:rPr lang="en-US" sz="2000" dirty="0"/>
              <a:t>other providers offer similar functionality (e.g. </a:t>
            </a:r>
            <a:r>
              <a:rPr lang="en-US" sz="2000" dirty="0">
                <a:hlinkClick r:id="rId3"/>
              </a:rPr>
              <a:t>Anthropic</a:t>
            </a:r>
            <a:r>
              <a:rPr lang="en-US" sz="2000" dirty="0"/>
              <a:t>)</a:t>
            </a:r>
          </a:p>
          <a:p>
            <a:pPr>
              <a:buFont typeface="Arial"/>
              <a:buChar char="▸"/>
            </a:pPr>
            <a:endParaRPr lang="en-US" sz="2000" dirty="0"/>
          </a:p>
          <a:p>
            <a:pPr marL="0" indent="0">
              <a:buNone/>
            </a:pPr>
            <a:r>
              <a:rPr lang="en-US" sz="2000" b="1" dirty="0">
                <a:solidFill>
                  <a:srgbClr val="0052CC"/>
                </a:solidFill>
                <a:latin typeface="Segoe UI Semibold"/>
              </a:rPr>
              <a:t>If you need </a:t>
            </a:r>
            <a:r>
              <a:rPr lang="en-US" sz="2000" b="1" dirty="0" err="1">
                <a:solidFill>
                  <a:srgbClr val="0052CC"/>
                </a:solidFill>
                <a:latin typeface="Segoe UI Semibold"/>
              </a:rPr>
              <a:t>XPlat</a:t>
            </a:r>
            <a:r>
              <a:rPr lang="en-US" sz="2000" b="1" dirty="0">
                <a:solidFill>
                  <a:srgbClr val="0052CC"/>
                </a:solidFill>
                <a:latin typeface="Segoe UI Semibold"/>
              </a:rPr>
              <a:t>, consider …</a:t>
            </a:r>
          </a:p>
          <a:p>
            <a:pPr>
              <a:buFont typeface="Arial"/>
              <a:buChar char="▸"/>
            </a:pPr>
            <a:r>
              <a:rPr lang="en-US" sz="2000" dirty="0"/>
              <a:t>… libs like </a:t>
            </a:r>
            <a:r>
              <a:rPr lang="en-US" sz="2000" dirty="0">
                <a:hlinkClick r:id="rId4"/>
              </a:rPr>
              <a:t>AI-SDK</a:t>
            </a:r>
            <a:endParaRPr lang="en-US" sz="2000" dirty="0"/>
          </a:p>
          <a:p>
            <a:pPr>
              <a:buFont typeface="Arial"/>
              <a:buChar char="▸"/>
            </a:pPr>
            <a:r>
              <a:rPr lang="en-US" sz="2000" dirty="0"/>
              <a:t>… proxies like </a:t>
            </a:r>
            <a:r>
              <a:rPr lang="en-US" sz="2000" dirty="0">
                <a:hlinkClick r:id="rId5"/>
              </a:rPr>
              <a:t>LiteLLM</a:t>
            </a:r>
            <a:endParaRPr lang="en-US" sz="2000" dirty="0"/>
          </a:p>
        </p:txBody>
      </p:sp>
    </p:spTree>
    <p:extLst>
      <p:ext uri="{BB962C8B-B14F-4D97-AF65-F5344CB8AC3E}">
        <p14:creationId xmlns:p14="http://schemas.microsoft.com/office/powerpoint/2010/main" val="405869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2B88-C751-7A6A-1C3D-B481F9C9E4F9}"/>
              </a:ext>
            </a:extLst>
          </p:cNvPr>
          <p:cNvSpPr>
            <a:spLocks noGrp="1"/>
          </p:cNvSpPr>
          <p:nvPr>
            <p:ph type="title"/>
          </p:nvPr>
        </p:nvSpPr>
        <p:spPr/>
        <p:txBody>
          <a:bodyPr>
            <a:normAutofit/>
          </a:bodyPr>
          <a:lstStyle/>
          <a:p>
            <a:r>
              <a:rPr lang="en-US" sz="3200" b="1">
                <a:solidFill>
                  <a:srgbClr val="0052CC"/>
                </a:solidFill>
              </a:rPr>
              <a:t>Motivation: Why Structured Output?</a:t>
            </a:r>
          </a:p>
        </p:txBody>
      </p:sp>
      <p:sp>
        <p:nvSpPr>
          <p:cNvPr id="3" name="Content Placeholder 2">
            <a:extLst>
              <a:ext uri="{FF2B5EF4-FFF2-40B4-BE49-F238E27FC236}">
                <a16:creationId xmlns:a16="http://schemas.microsoft.com/office/drawing/2014/main" id="{61C51AB3-776D-839E-45DF-B3A756BBEA6D}"/>
              </a:ext>
            </a:extLst>
          </p:cNvPr>
          <p:cNvSpPr>
            <a:spLocks noGrp="1"/>
          </p:cNvSpPr>
          <p:nvPr>
            <p:ph idx="1"/>
          </p:nvPr>
        </p:nvSpPr>
        <p:spPr>
          <a:xfrm>
            <a:off x="838200" y="1905000"/>
            <a:ext cx="10515600" cy="4191000"/>
          </a:xfrm>
        </p:spPr>
        <p:txBody>
          <a:bodyPr>
            <a:normAutofit/>
          </a:bodyPr>
          <a:lstStyle/>
          <a:p>
            <a:pPr>
              <a:buNone/>
            </a:pPr>
            <a:r>
              <a:rPr lang="en-US" sz="2000" b="1" dirty="0">
                <a:solidFill>
                  <a:srgbClr val="FF5252"/>
                </a:solidFill>
                <a:latin typeface="Segoe UI Semibold"/>
              </a:rPr>
              <a:t>The Problem</a:t>
            </a:r>
          </a:p>
          <a:p>
            <a:pPr>
              <a:buFont typeface="Arial"/>
              <a:buChar char="▸"/>
            </a:pPr>
            <a:r>
              <a:rPr lang="en-US" sz="2000" dirty="0">
                <a:solidFill>
                  <a:srgbClr val="2E2E2E"/>
                </a:solidFill>
                <a:latin typeface="Segoe UI"/>
              </a:rPr>
              <a:t>Free-text LLM responses are </a:t>
            </a:r>
            <a:r>
              <a:rPr lang="en-US" sz="2000" b="1" dirty="0">
                <a:solidFill>
                  <a:srgbClr val="FF5252"/>
                </a:solidFill>
                <a:latin typeface="Segoe UI"/>
              </a:rPr>
              <a:t>unpredictable</a:t>
            </a:r>
            <a:r>
              <a:rPr lang="en-US" sz="2000" dirty="0">
                <a:solidFill>
                  <a:srgbClr val="2E2E2E"/>
                </a:solidFill>
                <a:latin typeface="Segoe UI"/>
              </a:rPr>
              <a:t> and break downstream systems</a:t>
            </a:r>
          </a:p>
          <a:p>
            <a:pPr>
              <a:buFont typeface="Arial"/>
              <a:buChar char="▸"/>
            </a:pPr>
            <a:r>
              <a:rPr lang="en-US" sz="2000" dirty="0">
                <a:solidFill>
                  <a:srgbClr val="2E2E2E"/>
                </a:solidFill>
                <a:latin typeface="Segoe UI"/>
              </a:rPr>
              <a:t>Regex/string parsing is fragile, error-prone, and costly to maintain</a:t>
            </a:r>
          </a:p>
          <a:p>
            <a:pPr>
              <a:buFont typeface="Arial"/>
              <a:buChar char="▸"/>
            </a:pPr>
            <a:r>
              <a:rPr lang="en-US" sz="2000" dirty="0">
                <a:solidFill>
                  <a:srgbClr val="2E2E2E"/>
                </a:solidFill>
                <a:latin typeface="Segoe UI"/>
              </a:rPr>
              <a:t>Retry loops waste tokens, increase latency, and add complexity</a:t>
            </a:r>
          </a:p>
          <a:p>
            <a:pPr marL="0" indent="0">
              <a:buNone/>
            </a:pPr>
            <a:endParaRPr lang="en-US" sz="2000" dirty="0">
              <a:solidFill>
                <a:srgbClr val="2E2E2E"/>
              </a:solidFill>
              <a:latin typeface="Segoe UI"/>
            </a:endParaRPr>
          </a:p>
          <a:p>
            <a:pPr>
              <a:buNone/>
            </a:pPr>
            <a:r>
              <a:rPr lang="en-US" sz="2000" b="1" dirty="0">
                <a:solidFill>
                  <a:srgbClr val="00C853"/>
                </a:solidFill>
                <a:latin typeface="Segoe UI Semibold"/>
              </a:rPr>
              <a:t>The Solution</a:t>
            </a:r>
          </a:p>
          <a:p>
            <a:pPr>
              <a:buFont typeface="Arial"/>
              <a:buChar char="▸"/>
            </a:pPr>
            <a:r>
              <a:rPr lang="en-US" sz="2000" dirty="0">
                <a:solidFill>
                  <a:srgbClr val="2E2E2E"/>
                </a:solidFill>
                <a:latin typeface="Segoe UI"/>
              </a:rPr>
              <a:t>Structured Outputs = </a:t>
            </a:r>
            <a:r>
              <a:rPr lang="en-US" sz="2000" b="1" dirty="0">
                <a:solidFill>
                  <a:srgbClr val="00C853"/>
                </a:solidFill>
              </a:rPr>
              <a:t>100% schema-compliant </a:t>
            </a:r>
            <a:r>
              <a:rPr lang="en-US" sz="2000" dirty="0">
                <a:solidFill>
                  <a:srgbClr val="2E2E2E"/>
                </a:solidFill>
                <a:latin typeface="Segoe UI"/>
              </a:rPr>
              <a:t>responses</a:t>
            </a:r>
          </a:p>
          <a:p>
            <a:pPr>
              <a:buFont typeface="Arial"/>
              <a:buChar char="▸"/>
            </a:pPr>
            <a:r>
              <a:rPr lang="en-US" sz="2000" dirty="0">
                <a:solidFill>
                  <a:srgbClr val="2E2E2E"/>
                </a:solidFill>
                <a:latin typeface="Segoe UI"/>
              </a:rPr>
              <a:t>Production-ready from day one</a:t>
            </a:r>
            <a:r>
              <a:rPr lang="en-US" sz="2000" dirty="0"/>
              <a:t> → </a:t>
            </a:r>
            <a:r>
              <a:rPr lang="en-US" sz="2000" dirty="0">
                <a:solidFill>
                  <a:srgbClr val="2E2E2E"/>
                </a:solidFill>
                <a:latin typeface="Segoe UI"/>
              </a:rPr>
              <a:t>no glue code required</a:t>
            </a:r>
          </a:p>
        </p:txBody>
      </p:sp>
    </p:spTree>
    <p:extLst>
      <p:ext uri="{BB962C8B-B14F-4D97-AF65-F5344CB8AC3E}">
        <p14:creationId xmlns:p14="http://schemas.microsoft.com/office/powerpoint/2010/main" val="140927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1A4F-71CE-1549-3044-8E55A639494F}"/>
              </a:ext>
            </a:extLst>
          </p:cNvPr>
          <p:cNvSpPr>
            <a:spLocks noGrp="1"/>
          </p:cNvSpPr>
          <p:nvPr>
            <p:ph type="title"/>
          </p:nvPr>
        </p:nvSpPr>
        <p:spPr/>
        <p:txBody>
          <a:bodyPr>
            <a:normAutofit/>
          </a:bodyPr>
          <a:lstStyle/>
          <a:p>
            <a:r>
              <a:rPr lang="en-US" sz="3200" b="1" dirty="0">
                <a:solidFill>
                  <a:srgbClr val="0052CC"/>
                </a:solidFill>
              </a:rPr>
              <a:t>Overview of usages</a:t>
            </a:r>
          </a:p>
        </p:txBody>
      </p:sp>
      <p:sp>
        <p:nvSpPr>
          <p:cNvPr id="3" name="Content Placeholder 2">
            <a:extLst>
              <a:ext uri="{FF2B5EF4-FFF2-40B4-BE49-F238E27FC236}">
                <a16:creationId xmlns:a16="http://schemas.microsoft.com/office/drawing/2014/main" id="{F3DF52A7-B505-52F2-2118-7BF92CF79726}"/>
              </a:ext>
            </a:extLst>
          </p:cNvPr>
          <p:cNvSpPr>
            <a:spLocks noGrp="1"/>
          </p:cNvSpPr>
          <p:nvPr>
            <p:ph idx="1"/>
          </p:nvPr>
        </p:nvSpPr>
        <p:spPr>
          <a:xfrm>
            <a:off x="838200" y="1690689"/>
            <a:ext cx="10515600" cy="4405312"/>
          </a:xfrm>
        </p:spPr>
        <p:txBody>
          <a:bodyPr>
            <a:normAutofit/>
          </a:bodyPr>
          <a:lstStyle/>
          <a:p>
            <a:pPr>
              <a:buFont typeface="Arial"/>
              <a:buChar char="▸"/>
            </a:pPr>
            <a:r>
              <a:rPr lang="en-US" sz="2000" b="1" dirty="0">
                <a:solidFill>
                  <a:srgbClr val="0052CC"/>
                </a:solidFill>
                <a:latin typeface="Segoe UI Semibold"/>
              </a:rPr>
              <a:t>Data extraction and parsing</a:t>
            </a:r>
            <a:endParaRPr lang="en-US" sz="2000" dirty="0">
              <a:solidFill>
                <a:srgbClr val="2E2E2E"/>
              </a:solidFill>
              <a:latin typeface="Segoe UI"/>
            </a:endParaRPr>
          </a:p>
          <a:p>
            <a:pPr lvl="1">
              <a:buFont typeface="Arial"/>
              <a:buChar char="▸"/>
            </a:pPr>
            <a:r>
              <a:rPr lang="en-US" sz="1800" dirty="0">
                <a:latin typeface="Segoe UI"/>
              </a:rPr>
              <a:t>e</a:t>
            </a:r>
            <a:r>
              <a:rPr lang="en-US" sz="1800" dirty="0">
                <a:solidFill>
                  <a:srgbClr val="2E2E2E"/>
                </a:solidFill>
                <a:latin typeface="Segoe UI"/>
              </a:rPr>
              <a:t>.g</a:t>
            </a:r>
            <a:r>
              <a:rPr lang="en-US" sz="1800" dirty="0">
                <a:latin typeface="Segoe UI"/>
              </a:rPr>
              <a:t>. from documents (like PDF, JPEG, Word, PPT) for RAG</a:t>
            </a:r>
            <a:endParaRPr lang="en-US" sz="1800" dirty="0">
              <a:solidFill>
                <a:srgbClr val="2E2E2E"/>
              </a:solidFill>
              <a:latin typeface="Segoe UI"/>
            </a:endParaRPr>
          </a:p>
          <a:p>
            <a:pPr>
              <a:buFont typeface="Arial"/>
              <a:buChar char="▸"/>
            </a:pPr>
            <a:r>
              <a:rPr lang="en-US" sz="2000" b="1" dirty="0">
                <a:solidFill>
                  <a:srgbClr val="0052CC"/>
                </a:solidFill>
                <a:latin typeface="Segoe UI Semibold"/>
              </a:rPr>
              <a:t>Create semi-structured reports</a:t>
            </a:r>
            <a:endParaRPr lang="en-US" sz="2000" dirty="0">
              <a:solidFill>
                <a:srgbClr val="2E2E2E"/>
              </a:solidFill>
              <a:latin typeface="Segoe UI"/>
            </a:endParaRPr>
          </a:p>
          <a:p>
            <a:pPr lvl="1">
              <a:buFont typeface="Arial"/>
              <a:buChar char="▸"/>
            </a:pPr>
            <a:r>
              <a:rPr lang="en-US" sz="1800" dirty="0">
                <a:latin typeface="Segoe UI"/>
              </a:rPr>
              <a:t>e.g. summaries, incident reports, etc.</a:t>
            </a:r>
            <a:endParaRPr lang="en-US" sz="1800" dirty="0">
              <a:solidFill>
                <a:srgbClr val="2E2E2E"/>
              </a:solidFill>
              <a:latin typeface="Segoe UI"/>
            </a:endParaRPr>
          </a:p>
          <a:p>
            <a:pPr>
              <a:buFont typeface="Arial"/>
              <a:buChar char="▸"/>
            </a:pPr>
            <a:r>
              <a:rPr lang="en-US" sz="2000" b="1" dirty="0">
                <a:solidFill>
                  <a:srgbClr val="0052CC"/>
                </a:solidFill>
                <a:latin typeface="Segoe UI Semibold"/>
              </a:rPr>
              <a:t>Form filling</a:t>
            </a:r>
            <a:endParaRPr lang="en-US" sz="2000" dirty="0">
              <a:solidFill>
                <a:srgbClr val="2E2E2E"/>
              </a:solidFill>
              <a:latin typeface="Segoe UI"/>
            </a:endParaRPr>
          </a:p>
          <a:p>
            <a:pPr lvl="1">
              <a:buFont typeface="Arial"/>
              <a:buChar char="▸"/>
            </a:pPr>
            <a:r>
              <a:rPr lang="en-US" sz="1800" dirty="0">
                <a:latin typeface="Segoe UI"/>
              </a:rPr>
              <a:t>e.g. pre-fill form in UI from user-request</a:t>
            </a:r>
            <a:endParaRPr lang="en-US" sz="1800" dirty="0">
              <a:solidFill>
                <a:srgbClr val="2E2E2E"/>
              </a:solidFill>
              <a:latin typeface="Segoe UI"/>
            </a:endParaRPr>
          </a:p>
          <a:p>
            <a:pPr>
              <a:buFont typeface="Arial"/>
              <a:buChar char="▸"/>
            </a:pPr>
            <a:r>
              <a:rPr lang="en-US" sz="2000" b="1" dirty="0">
                <a:solidFill>
                  <a:srgbClr val="0052CC"/>
                </a:solidFill>
                <a:latin typeface="Segoe UI Semibold"/>
              </a:rPr>
              <a:t>Content classification</a:t>
            </a:r>
            <a:r>
              <a:rPr lang="en-US" sz="2000" dirty="0">
                <a:solidFill>
                  <a:srgbClr val="2E2E2E"/>
                </a:solidFill>
                <a:latin typeface="Segoe UI"/>
              </a:rPr>
              <a:t> </a:t>
            </a:r>
          </a:p>
          <a:p>
            <a:pPr lvl="1">
              <a:buFont typeface="Arial"/>
              <a:buChar char="▸"/>
            </a:pPr>
            <a:r>
              <a:rPr lang="en-US" sz="1800" dirty="0">
                <a:latin typeface="Segoe UI"/>
              </a:rPr>
              <a:t>e.g. for content moderation, structured customer feedback</a:t>
            </a:r>
            <a:endParaRPr lang="en-US" sz="1800" dirty="0">
              <a:solidFill>
                <a:srgbClr val="2E2E2E"/>
              </a:solidFill>
              <a:latin typeface="Segoe UI"/>
            </a:endParaRPr>
          </a:p>
          <a:p>
            <a:pPr>
              <a:buFont typeface="Arial"/>
              <a:buChar char="▸"/>
            </a:pPr>
            <a:r>
              <a:rPr lang="en-US" sz="2000" b="1" dirty="0">
                <a:solidFill>
                  <a:srgbClr val="0052CC"/>
                </a:solidFill>
                <a:latin typeface="Segoe UI Semibold"/>
              </a:rPr>
              <a:t>Function calling arguments</a:t>
            </a:r>
          </a:p>
          <a:p>
            <a:pPr lvl="1">
              <a:buFont typeface="Arial"/>
              <a:buChar char="▸"/>
            </a:pPr>
            <a:r>
              <a:rPr lang="en-US" sz="1800" dirty="0">
                <a:latin typeface="Segoe UI"/>
              </a:rPr>
              <a:t>LLM provides function arguments</a:t>
            </a:r>
          </a:p>
          <a:p>
            <a:pPr>
              <a:buFont typeface="Arial"/>
              <a:buChar char="▸"/>
            </a:pPr>
            <a:r>
              <a:rPr lang="en-US" sz="2000" b="1" dirty="0">
                <a:solidFill>
                  <a:srgbClr val="0052CC"/>
                </a:solidFill>
                <a:latin typeface="Segoe UI Semibold"/>
              </a:rPr>
              <a:t>Train of thought</a:t>
            </a:r>
            <a:endParaRPr lang="en-US" sz="2000" dirty="0">
              <a:solidFill>
                <a:srgbClr val="2E2E2E"/>
              </a:solidFill>
              <a:latin typeface="Segoe UI"/>
            </a:endParaRPr>
          </a:p>
          <a:p>
            <a:pPr lvl="1">
              <a:buFont typeface="Arial"/>
              <a:buChar char="▸"/>
            </a:pPr>
            <a:r>
              <a:rPr lang="en-US" sz="1800" dirty="0">
                <a:latin typeface="Segoe UI"/>
              </a:rPr>
              <a:t>Show reasoning process step-by-step</a:t>
            </a:r>
          </a:p>
        </p:txBody>
      </p:sp>
    </p:spTree>
    <p:extLst>
      <p:ext uri="{BB962C8B-B14F-4D97-AF65-F5344CB8AC3E}">
        <p14:creationId xmlns:p14="http://schemas.microsoft.com/office/powerpoint/2010/main" val="1052435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A4D">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56F9-ADA6-1602-3878-69132ABCC9AB}"/>
              </a:ext>
            </a:extLst>
          </p:cNvPr>
          <p:cNvSpPr>
            <a:spLocks noGrp="1"/>
          </p:cNvSpPr>
          <p:nvPr>
            <p:ph type="title"/>
          </p:nvPr>
        </p:nvSpPr>
        <p:spPr>
          <a:xfrm>
            <a:off x="831850" y="1016000"/>
            <a:ext cx="10515600" cy="1524000"/>
          </a:xfrm>
        </p:spPr>
        <p:txBody>
          <a:bodyPr>
            <a:normAutofit/>
          </a:bodyPr>
          <a:lstStyle/>
          <a:p>
            <a:r>
              <a:rPr lang="en-US" sz="2800" b="1" dirty="0">
                <a:solidFill>
                  <a:srgbClr val="FFFFFF"/>
                </a:solidFill>
              </a:rPr>
              <a:t>Demo: Contract Data Extraction (PDF)</a:t>
            </a:r>
          </a:p>
        </p:txBody>
      </p:sp>
      <p:sp>
        <p:nvSpPr>
          <p:cNvPr id="3" name="Text Placeholder 2">
            <a:extLst>
              <a:ext uri="{FF2B5EF4-FFF2-40B4-BE49-F238E27FC236}">
                <a16:creationId xmlns:a16="http://schemas.microsoft.com/office/drawing/2014/main" id="{C1C5BC3A-60F7-8325-8F70-5DEF444B717B}"/>
              </a:ext>
            </a:extLst>
          </p:cNvPr>
          <p:cNvSpPr>
            <a:spLocks noGrp="1"/>
          </p:cNvSpPr>
          <p:nvPr>
            <p:ph type="body" idx="1"/>
          </p:nvPr>
        </p:nvSpPr>
        <p:spPr>
          <a:xfrm>
            <a:off x="831850" y="2540000"/>
            <a:ext cx="10515600" cy="762000"/>
          </a:xfrm>
        </p:spPr>
        <p:txBody>
          <a:bodyPr>
            <a:normAutofit/>
          </a:bodyPr>
          <a:lstStyle/>
          <a:p>
            <a:r>
              <a:rPr lang="en-US" sz="1800" dirty="0">
                <a:solidFill>
                  <a:srgbClr val="00A3FF"/>
                </a:solidFill>
              </a:rPr>
              <a:t>Extract structured fields from unstructured PDF contracts using Structured Outputs</a:t>
            </a:r>
          </a:p>
        </p:txBody>
      </p:sp>
      <p:sp>
        <p:nvSpPr>
          <p:cNvPr id="60" name="DemoBadge"/>
          <p:cNvSpPr/>
          <p:nvPr/>
        </p:nvSpPr>
        <p:spPr>
          <a:xfrm>
            <a:off x="457200" y="254000"/>
            <a:ext cx="2286000" cy="457200"/>
          </a:xfrm>
          <a:prstGeom prst="roundRect">
            <a:avLst>
              <a:gd name="adj" fmla="val 16667"/>
            </a:avLst>
          </a:prstGeom>
          <a:solidFill>
            <a:srgbClr val="FFC107"/>
          </a:solidFill>
          <a:ln>
            <a:noFill/>
          </a:ln>
        </p:spPr>
        <p:txBody>
          <a:bodyPr anchor="ctr" anchorCtr="1"/>
          <a:lstStyle/>
          <a:p>
            <a:pPr algn="ctr"/>
            <a:r>
              <a:rPr lang="en-US" sz="1800" b="1" dirty="0">
                <a:solidFill>
                  <a:srgbClr val="001A4D"/>
                </a:solidFill>
                <a:latin typeface="Segoe UI Semibold"/>
              </a:rPr>
              <a:t>▶  LIVE DEMO</a:t>
            </a:r>
          </a:p>
        </p:txBody>
      </p:sp>
      <p:sp>
        <p:nvSpPr>
          <p:cNvPr id="61" name="KeyPoints"/>
          <p:cNvSpPr/>
          <p:nvPr/>
        </p:nvSpPr>
        <p:spPr>
          <a:xfrm>
            <a:off x="457200" y="3556001"/>
            <a:ext cx="11277600" cy="1822245"/>
          </a:xfrm>
          <a:prstGeom prst="roundRect">
            <a:avLst>
              <a:gd name="adj" fmla="val 8333"/>
            </a:avLst>
          </a:prstGeom>
          <a:solidFill>
            <a:srgbClr val="FFFFFF">
              <a:alpha val="10000"/>
            </a:srgbClr>
          </a:solidFill>
          <a:ln w="12700">
            <a:solidFill>
              <a:srgbClr val="00A3FF">
                <a:alpha val="40000"/>
              </a:srgbClr>
            </a:solidFill>
          </a:ln>
        </p:spPr>
        <p:txBody>
          <a:bodyPr lIns="182880" tIns="91440" rIns="182880" bIns="91440" anchor="t"/>
          <a:lstStyle/>
          <a:p>
            <a:pPr>
              <a:buFont typeface="Arial"/>
              <a:buChar char="▸"/>
            </a:pPr>
            <a:r>
              <a:rPr lang="en-US" sz="2000" dirty="0">
                <a:solidFill>
                  <a:srgbClr val="FFFFFF"/>
                </a:solidFill>
                <a:latin typeface="Segoe UI"/>
              </a:rPr>
              <a:t>Upload a PDF contract → extract parties, dates, clauses, obligations</a:t>
            </a:r>
          </a:p>
          <a:p>
            <a:endParaRPr lang="en-US" sz="2000" dirty="0">
              <a:solidFill>
                <a:srgbClr val="FFFFFF"/>
              </a:solidFill>
              <a:latin typeface="Segoe UI"/>
            </a:endParaRPr>
          </a:p>
          <a:p>
            <a:pPr>
              <a:buFont typeface="Arial"/>
              <a:buChar char="▸"/>
            </a:pPr>
            <a:r>
              <a:rPr lang="en-US" sz="2000" dirty="0">
                <a:solidFill>
                  <a:srgbClr val="FFFFFF"/>
                </a:solidFill>
                <a:latin typeface="Segoe UI"/>
              </a:rPr>
              <a:t>JS/TS: Zod model defines the extraction schema</a:t>
            </a:r>
          </a:p>
          <a:p>
            <a:endParaRPr lang="en-US" sz="2000" dirty="0">
              <a:solidFill>
                <a:srgbClr val="FFFFFF"/>
              </a:solidFill>
              <a:latin typeface="Segoe UI"/>
            </a:endParaRPr>
          </a:p>
          <a:p>
            <a:pPr>
              <a:buFont typeface="Arial"/>
              <a:buChar char="▸"/>
            </a:pPr>
            <a:r>
              <a:rPr lang="en-US" sz="2000" dirty="0">
                <a:solidFill>
                  <a:srgbClr val="FFFFFF"/>
                </a:solidFill>
                <a:latin typeface="Segoe UI"/>
              </a:rPr>
              <a:t>Output: validated, type-safe JSON ready for database storage</a:t>
            </a:r>
          </a:p>
        </p:txBody>
      </p:sp>
    </p:spTree>
    <p:extLst>
      <p:ext uri="{BB962C8B-B14F-4D97-AF65-F5344CB8AC3E}">
        <p14:creationId xmlns:p14="http://schemas.microsoft.com/office/powerpoint/2010/main" val="3760304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3CA9-7DC9-98A3-C3FE-64863B290B42}"/>
              </a:ext>
            </a:extLst>
          </p:cNvPr>
          <p:cNvSpPr>
            <a:spLocks noGrp="1"/>
          </p:cNvSpPr>
          <p:nvPr>
            <p:ph type="title"/>
          </p:nvPr>
        </p:nvSpPr>
        <p:spPr/>
        <p:txBody>
          <a:bodyPr>
            <a:normAutofit/>
          </a:bodyPr>
          <a:lstStyle/>
          <a:p>
            <a:r>
              <a:rPr lang="en-US" sz="3200" b="1">
                <a:solidFill>
                  <a:srgbClr val="0052CC"/>
                </a:solidFill>
              </a:rPr>
              <a:t>Context-Free Grammar (CFG)</a:t>
            </a:r>
          </a:p>
        </p:txBody>
      </p:sp>
      <p:sp>
        <p:nvSpPr>
          <p:cNvPr id="3" name="Content Placeholder 2">
            <a:extLst>
              <a:ext uri="{FF2B5EF4-FFF2-40B4-BE49-F238E27FC236}">
                <a16:creationId xmlns:a16="http://schemas.microsoft.com/office/drawing/2014/main" id="{F7ACBD00-EE0B-1799-965F-3D0888EB55CC}"/>
              </a:ext>
            </a:extLst>
          </p:cNvPr>
          <p:cNvSpPr>
            <a:spLocks noGrp="1"/>
          </p:cNvSpPr>
          <p:nvPr>
            <p:ph idx="1"/>
          </p:nvPr>
        </p:nvSpPr>
        <p:spPr>
          <a:xfrm>
            <a:off x="838200" y="1905000"/>
            <a:ext cx="10515600" cy="4191000"/>
          </a:xfrm>
        </p:spPr>
        <p:txBody>
          <a:bodyPr>
            <a:normAutofit/>
          </a:bodyPr>
          <a:lstStyle/>
          <a:p>
            <a:pPr>
              <a:buFont typeface="Arial"/>
              <a:buChar char="▸"/>
            </a:pPr>
            <a:r>
              <a:rPr lang="en-US" sz="2000" dirty="0">
                <a:solidFill>
                  <a:srgbClr val="2E2E2E"/>
                </a:solidFill>
                <a:latin typeface="Segoe UI"/>
              </a:rPr>
              <a:t>JSON Schema is converted to a </a:t>
            </a:r>
            <a:r>
              <a:rPr lang="en-US" sz="2000" b="1" dirty="0">
                <a:solidFill>
                  <a:srgbClr val="0052CC"/>
                </a:solidFill>
                <a:latin typeface="Segoe UI"/>
              </a:rPr>
              <a:t>Context-Free Grammar</a:t>
            </a:r>
          </a:p>
          <a:p>
            <a:pPr>
              <a:buFont typeface="Arial"/>
              <a:buChar char="▸"/>
            </a:pPr>
            <a:r>
              <a:rPr lang="en-US" sz="2000" dirty="0">
                <a:solidFill>
                  <a:srgbClr val="2E2E2E"/>
                </a:solidFill>
                <a:latin typeface="Segoe UI"/>
              </a:rPr>
              <a:t>CFG </a:t>
            </a:r>
            <a:r>
              <a:rPr lang="en-US" sz="2000" b="1" dirty="0">
                <a:solidFill>
                  <a:srgbClr val="FFC107"/>
                </a:solidFill>
                <a:latin typeface="Segoe UI"/>
              </a:rPr>
              <a:t>constrains token sampling</a:t>
            </a:r>
            <a:r>
              <a:rPr lang="en-US" sz="2000" dirty="0">
                <a:solidFill>
                  <a:srgbClr val="2E2E2E"/>
                </a:solidFill>
                <a:latin typeface="Segoe UI"/>
              </a:rPr>
              <a:t> at inference time</a:t>
            </a:r>
          </a:p>
          <a:p>
            <a:pPr>
              <a:buFont typeface="Arial"/>
              <a:buChar char="▸"/>
            </a:pPr>
            <a:r>
              <a:rPr lang="en-US" sz="2000" dirty="0">
                <a:solidFill>
                  <a:srgbClr val="2E2E2E"/>
                </a:solidFill>
                <a:latin typeface="Segoe UI"/>
              </a:rPr>
              <a:t>Only valid grammar transitions are allowed for next token</a:t>
            </a:r>
          </a:p>
          <a:p>
            <a:pPr>
              <a:buFont typeface="Arial"/>
              <a:buChar char="▸"/>
            </a:pPr>
            <a:r>
              <a:rPr lang="en-US" sz="2000" dirty="0">
                <a:latin typeface="Segoe UI"/>
              </a:rPr>
              <a:t>Supported Grammar Syntax for DSL</a:t>
            </a:r>
          </a:p>
          <a:p>
            <a:pPr lvl="1">
              <a:buFont typeface="Arial"/>
              <a:buChar char="▸"/>
            </a:pPr>
            <a:r>
              <a:rPr lang="en-US" sz="1800" dirty="0">
                <a:solidFill>
                  <a:srgbClr val="2E2E2E"/>
                </a:solidFill>
                <a:latin typeface="Segoe UI"/>
                <a:hlinkClick r:id="rId3"/>
              </a:rPr>
              <a:t>Lark</a:t>
            </a:r>
            <a:endParaRPr lang="en-US" sz="1800" dirty="0">
              <a:solidFill>
                <a:srgbClr val="2E2E2E"/>
              </a:solidFill>
              <a:latin typeface="Segoe UI"/>
            </a:endParaRPr>
          </a:p>
          <a:p>
            <a:pPr lvl="1">
              <a:buFont typeface="Arial"/>
              <a:buChar char="▸"/>
            </a:pPr>
            <a:r>
              <a:rPr lang="en-US" sz="1800" dirty="0">
                <a:latin typeface="Segoe UI"/>
                <a:hlinkClick r:id="rId4"/>
              </a:rPr>
              <a:t>Regex</a:t>
            </a:r>
            <a:endParaRPr lang="en-US" sz="1800" dirty="0">
              <a:solidFill>
                <a:srgbClr val="2E2E2E"/>
              </a:solidFill>
              <a:latin typeface="Segoe UI"/>
            </a:endParaRPr>
          </a:p>
        </p:txBody>
      </p:sp>
    </p:spTree>
    <p:extLst>
      <p:ext uri="{BB962C8B-B14F-4D97-AF65-F5344CB8AC3E}">
        <p14:creationId xmlns:p14="http://schemas.microsoft.com/office/powerpoint/2010/main" val="39114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A4D">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5EB0D-2BE6-E704-58A3-EB4124520683}"/>
              </a:ext>
            </a:extLst>
          </p:cNvPr>
          <p:cNvSpPr>
            <a:spLocks noGrp="1"/>
          </p:cNvSpPr>
          <p:nvPr>
            <p:ph type="title"/>
          </p:nvPr>
        </p:nvSpPr>
        <p:spPr>
          <a:xfrm>
            <a:off x="831850" y="1016000"/>
            <a:ext cx="10515600" cy="1524000"/>
          </a:xfrm>
        </p:spPr>
        <p:txBody>
          <a:bodyPr>
            <a:normAutofit/>
          </a:bodyPr>
          <a:lstStyle/>
          <a:p>
            <a:r>
              <a:rPr lang="en-US" sz="2800" b="1">
                <a:solidFill>
                  <a:srgbClr val="FFFFFF"/>
                </a:solidFill>
              </a:rPr>
              <a:t>Demo: Lark CFG Setup &amp; Code Example</a:t>
            </a:r>
          </a:p>
        </p:txBody>
      </p:sp>
      <p:sp>
        <p:nvSpPr>
          <p:cNvPr id="3" name="Text Placeholder 2">
            <a:extLst>
              <a:ext uri="{FF2B5EF4-FFF2-40B4-BE49-F238E27FC236}">
                <a16:creationId xmlns:a16="http://schemas.microsoft.com/office/drawing/2014/main" id="{DAB355AE-7E92-CD0A-011A-0B75120091D0}"/>
              </a:ext>
            </a:extLst>
          </p:cNvPr>
          <p:cNvSpPr>
            <a:spLocks noGrp="1"/>
          </p:cNvSpPr>
          <p:nvPr>
            <p:ph type="body" idx="1"/>
          </p:nvPr>
        </p:nvSpPr>
        <p:spPr>
          <a:xfrm>
            <a:off x="831850" y="2540000"/>
            <a:ext cx="10515600" cy="762000"/>
          </a:xfrm>
        </p:spPr>
        <p:txBody>
          <a:bodyPr>
            <a:normAutofit/>
          </a:bodyPr>
          <a:lstStyle/>
          <a:p>
            <a:r>
              <a:rPr lang="en-US" sz="1800">
                <a:solidFill>
                  <a:srgbClr val="00A3FF"/>
                </a:solidFill>
              </a:rPr>
              <a:t>Define custom grammars beyond JSON Schema for domain-specific output formats</a:t>
            </a:r>
          </a:p>
        </p:txBody>
      </p:sp>
      <p:sp>
        <p:nvSpPr>
          <p:cNvPr id="60" name="DemoBadge"/>
          <p:cNvSpPr/>
          <p:nvPr/>
        </p:nvSpPr>
        <p:spPr>
          <a:xfrm>
            <a:off x="457200" y="254000"/>
            <a:ext cx="2286000" cy="457200"/>
          </a:xfrm>
          <a:prstGeom prst="roundRect">
            <a:avLst>
              <a:gd name="adj" fmla="val 16667"/>
            </a:avLst>
          </a:prstGeom>
          <a:solidFill>
            <a:srgbClr val="FFC107"/>
          </a:solidFill>
          <a:ln>
            <a:noFill/>
          </a:ln>
        </p:spPr>
        <p:txBody>
          <a:bodyPr anchor="ctr" anchorCtr="1"/>
          <a:lstStyle/>
          <a:p>
            <a:pPr algn="ctr"/>
            <a:r>
              <a:rPr lang="en-US" sz="1800" b="1" dirty="0">
                <a:solidFill>
                  <a:srgbClr val="001A4D"/>
                </a:solidFill>
                <a:latin typeface="Segoe UI Semibold"/>
              </a:rPr>
              <a:t>▶  LIVE DEMO</a:t>
            </a:r>
          </a:p>
        </p:txBody>
      </p:sp>
      <p:sp>
        <p:nvSpPr>
          <p:cNvPr id="61" name="KeyPoints"/>
          <p:cNvSpPr/>
          <p:nvPr/>
        </p:nvSpPr>
        <p:spPr>
          <a:xfrm>
            <a:off x="457200" y="3556000"/>
            <a:ext cx="11277600" cy="1270000"/>
          </a:xfrm>
          <a:prstGeom prst="roundRect">
            <a:avLst>
              <a:gd name="adj" fmla="val 8333"/>
            </a:avLst>
          </a:prstGeom>
          <a:solidFill>
            <a:srgbClr val="FFFFFF">
              <a:alpha val="10000"/>
            </a:srgbClr>
          </a:solidFill>
          <a:ln w="12700">
            <a:solidFill>
              <a:srgbClr val="00A3FF">
                <a:alpha val="40000"/>
              </a:srgbClr>
            </a:solidFill>
          </a:ln>
        </p:spPr>
        <p:txBody>
          <a:bodyPr lIns="182880" tIns="91440" rIns="182880" bIns="91440" anchor="t"/>
          <a:lstStyle/>
          <a:p>
            <a:pPr>
              <a:buFont typeface="Arial"/>
              <a:buChar char="▸"/>
            </a:pPr>
            <a:r>
              <a:rPr lang="en-US" sz="2000" dirty="0">
                <a:solidFill>
                  <a:srgbClr val="FFFFFF"/>
                </a:solidFill>
                <a:latin typeface="Segoe UI"/>
              </a:rPr>
              <a:t>Lark grammar definition for custom output formats (SQL, DSLs)</a:t>
            </a:r>
          </a:p>
          <a:p>
            <a:pPr>
              <a:buFont typeface="Arial"/>
              <a:buChar char="▸"/>
            </a:pPr>
            <a:endParaRPr lang="en-US" sz="2000" dirty="0">
              <a:solidFill>
                <a:srgbClr val="FFFFFF"/>
              </a:solidFill>
              <a:latin typeface="Segoe UI"/>
            </a:endParaRPr>
          </a:p>
          <a:p>
            <a:pPr>
              <a:buFont typeface="Arial"/>
              <a:buChar char="▸"/>
            </a:pPr>
            <a:r>
              <a:rPr lang="en-US" sz="2000" dirty="0">
                <a:solidFill>
                  <a:srgbClr val="FFFFFF"/>
                </a:solidFill>
                <a:latin typeface="Segoe UI"/>
              </a:rPr>
              <a:t>Integration with OpenAI API for grammar-constrained generation</a:t>
            </a:r>
          </a:p>
        </p:txBody>
      </p:sp>
    </p:spTree>
    <p:extLst>
      <p:ext uri="{BB962C8B-B14F-4D97-AF65-F5344CB8AC3E}">
        <p14:creationId xmlns:p14="http://schemas.microsoft.com/office/powerpoint/2010/main" val="1439478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A4D">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F6BA-EDA0-F569-CCEB-AE5E31C37AB5}"/>
              </a:ext>
            </a:extLst>
          </p:cNvPr>
          <p:cNvSpPr>
            <a:spLocks noGrp="1"/>
          </p:cNvSpPr>
          <p:nvPr>
            <p:ph type="title"/>
          </p:nvPr>
        </p:nvSpPr>
        <p:spPr>
          <a:xfrm>
            <a:off x="831850" y="1016000"/>
            <a:ext cx="10515600" cy="1524000"/>
          </a:xfrm>
        </p:spPr>
        <p:txBody>
          <a:bodyPr>
            <a:normAutofit/>
          </a:bodyPr>
          <a:lstStyle/>
          <a:p>
            <a:r>
              <a:rPr lang="en-US" sz="2800" b="1">
                <a:solidFill>
                  <a:srgbClr val="FFFFFF"/>
                </a:solidFill>
              </a:rPr>
              <a:t>Demo: Function Calling &amp; Structured Outputs</a:t>
            </a:r>
          </a:p>
        </p:txBody>
      </p:sp>
      <p:sp>
        <p:nvSpPr>
          <p:cNvPr id="3" name="Text Placeholder 2">
            <a:extLst>
              <a:ext uri="{FF2B5EF4-FFF2-40B4-BE49-F238E27FC236}">
                <a16:creationId xmlns:a16="http://schemas.microsoft.com/office/drawing/2014/main" id="{42F815BD-8FAA-1824-4EF2-A1FA2281DC34}"/>
              </a:ext>
            </a:extLst>
          </p:cNvPr>
          <p:cNvSpPr>
            <a:spLocks noGrp="1"/>
          </p:cNvSpPr>
          <p:nvPr>
            <p:ph type="body" idx="1"/>
          </p:nvPr>
        </p:nvSpPr>
        <p:spPr>
          <a:xfrm>
            <a:off x="831850" y="2540000"/>
            <a:ext cx="10515600" cy="762000"/>
          </a:xfrm>
        </p:spPr>
        <p:txBody>
          <a:bodyPr>
            <a:normAutofit/>
          </a:bodyPr>
          <a:lstStyle/>
          <a:p>
            <a:r>
              <a:rPr lang="en-US" sz="1800">
                <a:solidFill>
                  <a:srgbClr val="00A3FF"/>
                </a:solidFill>
              </a:rPr>
              <a:t>Type-safe tool arguments with automatic schema validation in code</a:t>
            </a:r>
          </a:p>
        </p:txBody>
      </p:sp>
      <p:sp>
        <p:nvSpPr>
          <p:cNvPr id="60" name="DemoBadge"/>
          <p:cNvSpPr/>
          <p:nvPr/>
        </p:nvSpPr>
        <p:spPr>
          <a:xfrm>
            <a:off x="457200" y="254000"/>
            <a:ext cx="2286000" cy="457200"/>
          </a:xfrm>
          <a:prstGeom prst="roundRect">
            <a:avLst>
              <a:gd name="adj" fmla="val 16667"/>
            </a:avLst>
          </a:prstGeom>
          <a:solidFill>
            <a:srgbClr val="FFC107"/>
          </a:solidFill>
          <a:ln>
            <a:noFill/>
          </a:ln>
        </p:spPr>
        <p:txBody>
          <a:bodyPr anchor="ctr" anchorCtr="1"/>
          <a:lstStyle/>
          <a:p>
            <a:pPr algn="ctr"/>
            <a:r>
              <a:rPr lang="en-US" sz="1800" b="1" dirty="0">
                <a:solidFill>
                  <a:srgbClr val="001A4D"/>
                </a:solidFill>
                <a:latin typeface="Segoe UI Semibold"/>
              </a:rPr>
              <a:t>▶  LIVE DEMO</a:t>
            </a:r>
          </a:p>
        </p:txBody>
      </p:sp>
      <p:sp>
        <p:nvSpPr>
          <p:cNvPr id="61" name="KeyPoints"/>
          <p:cNvSpPr/>
          <p:nvPr/>
        </p:nvSpPr>
        <p:spPr>
          <a:xfrm>
            <a:off x="457200" y="3556000"/>
            <a:ext cx="11277600" cy="1270000"/>
          </a:xfrm>
          <a:prstGeom prst="roundRect">
            <a:avLst>
              <a:gd name="adj" fmla="val 8333"/>
            </a:avLst>
          </a:prstGeom>
          <a:solidFill>
            <a:srgbClr val="FFFFFF">
              <a:alpha val="10000"/>
            </a:srgbClr>
          </a:solidFill>
          <a:ln w="12700">
            <a:solidFill>
              <a:srgbClr val="00A3FF">
                <a:alpha val="40000"/>
              </a:srgbClr>
            </a:solidFill>
          </a:ln>
        </p:spPr>
        <p:txBody>
          <a:bodyPr lIns="182880" tIns="91440" rIns="182880" bIns="91440" anchor="t"/>
          <a:lstStyle/>
          <a:p>
            <a:pPr>
              <a:buFont typeface="Arial"/>
              <a:buChar char="▸"/>
            </a:pPr>
            <a:r>
              <a:rPr lang="en-US" sz="2000" dirty="0">
                <a:solidFill>
                  <a:srgbClr val="FFFFFF"/>
                </a:solidFill>
                <a:latin typeface="Segoe UI"/>
              </a:rPr>
              <a:t>Define function arguments with JSON Schema parameters</a:t>
            </a:r>
          </a:p>
          <a:p>
            <a:pPr>
              <a:buFont typeface="Arial"/>
              <a:buChar char="▸"/>
            </a:pPr>
            <a:endParaRPr lang="en-US" sz="2000" dirty="0">
              <a:solidFill>
                <a:srgbClr val="FFC107"/>
              </a:solidFill>
              <a:latin typeface="Consolas"/>
            </a:endParaRPr>
          </a:p>
          <a:p>
            <a:pPr>
              <a:buFont typeface="Arial"/>
              <a:buChar char="▸"/>
            </a:pPr>
            <a:r>
              <a:rPr lang="en-US" sz="2000" dirty="0">
                <a:solidFill>
                  <a:srgbClr val="FFFFFF"/>
                </a:solidFill>
                <a:latin typeface="Segoe UI"/>
              </a:rPr>
              <a:t>Model generates validated function arguments - no parsing needed</a:t>
            </a:r>
          </a:p>
        </p:txBody>
      </p:sp>
    </p:spTree>
    <p:extLst>
      <p:ext uri="{BB962C8B-B14F-4D97-AF65-F5344CB8AC3E}">
        <p14:creationId xmlns:p14="http://schemas.microsoft.com/office/powerpoint/2010/main" val="2577444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AFF7-7E40-24C9-7B0F-73501504D1BC}"/>
              </a:ext>
            </a:extLst>
          </p:cNvPr>
          <p:cNvSpPr>
            <a:spLocks noGrp="1"/>
          </p:cNvSpPr>
          <p:nvPr>
            <p:ph type="title"/>
          </p:nvPr>
        </p:nvSpPr>
        <p:spPr/>
        <p:txBody>
          <a:bodyPr>
            <a:normAutofit/>
          </a:bodyPr>
          <a:lstStyle/>
          <a:p>
            <a:r>
              <a:rPr lang="en-US" sz="3200" b="1">
                <a:solidFill>
                  <a:srgbClr val="0052CC"/>
                </a:solidFill>
              </a:rPr>
              <a:t>Summary &amp; Takeaways</a:t>
            </a:r>
          </a:p>
        </p:txBody>
      </p:sp>
      <p:sp>
        <p:nvSpPr>
          <p:cNvPr id="3" name="Content Placeholder 2">
            <a:extLst>
              <a:ext uri="{FF2B5EF4-FFF2-40B4-BE49-F238E27FC236}">
                <a16:creationId xmlns:a16="http://schemas.microsoft.com/office/drawing/2014/main" id="{1A54A8A2-5E91-9C44-237B-405553C1731A}"/>
              </a:ext>
            </a:extLst>
          </p:cNvPr>
          <p:cNvSpPr>
            <a:spLocks noGrp="1"/>
          </p:cNvSpPr>
          <p:nvPr>
            <p:ph idx="1"/>
          </p:nvPr>
        </p:nvSpPr>
        <p:spPr>
          <a:xfrm>
            <a:off x="838200" y="1905000"/>
            <a:ext cx="10515600" cy="4191000"/>
          </a:xfrm>
        </p:spPr>
        <p:txBody>
          <a:bodyPr>
            <a:normAutofit/>
          </a:bodyPr>
          <a:lstStyle/>
          <a:p>
            <a:pPr>
              <a:buNone/>
            </a:pPr>
            <a:r>
              <a:rPr lang="en-US" sz="2000" b="1" dirty="0">
                <a:solidFill>
                  <a:srgbClr val="0052CC"/>
                </a:solidFill>
                <a:latin typeface="Segoe UI Semibold"/>
              </a:rPr>
              <a:t>Key Takeaways</a:t>
            </a:r>
          </a:p>
          <a:p>
            <a:pPr>
              <a:buFont typeface="Arial"/>
              <a:buChar char="▸"/>
            </a:pPr>
            <a:r>
              <a:rPr lang="en-US" sz="2000" b="1" dirty="0">
                <a:solidFill>
                  <a:srgbClr val="FFC107"/>
                </a:solidFill>
                <a:latin typeface="Segoe UI"/>
              </a:rPr>
              <a:t>Reliability</a:t>
            </a:r>
            <a:r>
              <a:rPr lang="en-US" sz="2000" dirty="0">
                <a:solidFill>
                  <a:srgbClr val="2E2E2E"/>
                </a:solidFill>
                <a:latin typeface="Segoe UI"/>
              </a:rPr>
              <a:t> </a:t>
            </a:r>
            <a:r>
              <a:rPr lang="en-US" sz="2000" dirty="0">
                <a:solidFill>
                  <a:schemeClr val="tx1"/>
                </a:solidFill>
              </a:rPr>
              <a:t>→</a:t>
            </a:r>
            <a:r>
              <a:rPr lang="en-US" sz="2000" dirty="0">
                <a:solidFill>
                  <a:srgbClr val="2E2E2E"/>
                </a:solidFill>
                <a:latin typeface="Segoe UI"/>
              </a:rPr>
              <a:t> 100% schema-compliant outputs, every time</a:t>
            </a:r>
          </a:p>
          <a:p>
            <a:pPr>
              <a:buFont typeface="Arial"/>
              <a:buChar char="▸"/>
            </a:pPr>
            <a:r>
              <a:rPr lang="en-US" sz="2000" b="1" dirty="0">
                <a:solidFill>
                  <a:srgbClr val="FFC107"/>
                </a:solidFill>
                <a:latin typeface="Segoe UI"/>
              </a:rPr>
              <a:t>Simplicity</a:t>
            </a:r>
            <a:r>
              <a:rPr lang="en-US" sz="2000" dirty="0">
                <a:solidFill>
                  <a:srgbClr val="2E2E2E"/>
                </a:solidFill>
                <a:latin typeface="Segoe UI"/>
              </a:rPr>
              <a:t> </a:t>
            </a:r>
            <a:r>
              <a:rPr lang="en-US" sz="2000" dirty="0">
                <a:solidFill>
                  <a:schemeClr val="tx1"/>
                </a:solidFill>
              </a:rPr>
              <a:t>→</a:t>
            </a:r>
            <a:r>
              <a:rPr lang="en-US" sz="2000" dirty="0">
                <a:solidFill>
                  <a:srgbClr val="2E2E2E"/>
                </a:solidFill>
                <a:latin typeface="Segoe UI"/>
              </a:rPr>
              <a:t> Eliminates parsing, retries, and validation boilerplate</a:t>
            </a:r>
          </a:p>
          <a:p>
            <a:pPr>
              <a:buFont typeface="Arial"/>
              <a:buChar char="▸"/>
            </a:pPr>
            <a:r>
              <a:rPr lang="en-US" sz="2000" b="1" dirty="0">
                <a:solidFill>
                  <a:srgbClr val="FFC107"/>
                </a:solidFill>
                <a:latin typeface="Segoe UI"/>
              </a:rPr>
              <a:t>Versatility</a:t>
            </a:r>
            <a:r>
              <a:rPr lang="en-US" sz="2000" dirty="0">
                <a:solidFill>
                  <a:srgbClr val="2E2E2E"/>
                </a:solidFill>
                <a:latin typeface="Segoe UI"/>
              </a:rPr>
              <a:t> </a:t>
            </a:r>
            <a:r>
              <a:rPr lang="en-US" sz="2000" dirty="0">
                <a:solidFill>
                  <a:schemeClr val="tx1"/>
                </a:solidFill>
              </a:rPr>
              <a:t>→</a:t>
            </a:r>
            <a:r>
              <a:rPr lang="en-US" sz="2000" dirty="0">
                <a:solidFill>
                  <a:srgbClr val="2E2E2E"/>
                </a:solidFill>
                <a:latin typeface="Segoe UI"/>
              </a:rPr>
              <a:t> JSON Schema, Function Calling, and custom CFG grammars</a:t>
            </a:r>
          </a:p>
          <a:p>
            <a:pPr>
              <a:buFont typeface="Arial"/>
              <a:buChar char="▸"/>
            </a:pPr>
            <a:r>
              <a:rPr lang="en-US" sz="2000" b="1" dirty="0">
                <a:solidFill>
                  <a:srgbClr val="FFC107"/>
                </a:solidFill>
                <a:latin typeface="Segoe UI"/>
              </a:rPr>
              <a:t>Production-Ready</a:t>
            </a:r>
            <a:r>
              <a:rPr lang="en-US" sz="2000" dirty="0">
                <a:solidFill>
                  <a:srgbClr val="2E2E2E"/>
                </a:solidFill>
                <a:latin typeface="Segoe UI"/>
              </a:rPr>
              <a:t> </a:t>
            </a:r>
            <a:r>
              <a:rPr lang="en-US" sz="2000" dirty="0">
                <a:solidFill>
                  <a:schemeClr val="tx1"/>
                </a:solidFill>
              </a:rPr>
              <a:t>→</a:t>
            </a:r>
            <a:r>
              <a:rPr lang="en-US" sz="2000" dirty="0">
                <a:solidFill>
                  <a:srgbClr val="2E2E2E"/>
                </a:solidFill>
                <a:latin typeface="Segoe UI"/>
              </a:rPr>
              <a:t> Native SDK support in Python and Node.js</a:t>
            </a:r>
          </a:p>
          <a:p>
            <a:pPr>
              <a:buFont typeface="Arial"/>
              <a:buChar char="▸"/>
            </a:pPr>
            <a:r>
              <a:rPr lang="en-US" sz="2000" b="1" dirty="0">
                <a:solidFill>
                  <a:srgbClr val="FFC107"/>
                </a:solidFill>
                <a:latin typeface="Segoe UI"/>
              </a:rPr>
              <a:t>Impact</a:t>
            </a:r>
            <a:r>
              <a:rPr lang="en-US" sz="2000" dirty="0">
                <a:solidFill>
                  <a:srgbClr val="2E2E2E"/>
                </a:solidFill>
                <a:latin typeface="Segoe UI"/>
              </a:rPr>
              <a:t> </a:t>
            </a:r>
            <a:r>
              <a:rPr lang="en-US" sz="2000" dirty="0">
                <a:solidFill>
                  <a:schemeClr val="tx1"/>
                </a:solidFill>
              </a:rPr>
              <a:t>→</a:t>
            </a:r>
            <a:r>
              <a:rPr lang="en-US" sz="2000" dirty="0">
                <a:solidFill>
                  <a:srgbClr val="2E2E2E"/>
                </a:solidFill>
                <a:latin typeface="Segoe UI"/>
              </a:rPr>
              <a:t> Better UX, lower costs, faster time-to-market</a:t>
            </a:r>
          </a:p>
        </p:txBody>
      </p:sp>
    </p:spTree>
    <p:extLst>
      <p:ext uri="{BB962C8B-B14F-4D97-AF65-F5344CB8AC3E}">
        <p14:creationId xmlns:p14="http://schemas.microsoft.com/office/powerpoint/2010/main" val="183318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52CC">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7B45-FDEE-43E7-CD37-96CF85DA82D2}"/>
              </a:ext>
            </a:extLst>
          </p:cNvPr>
          <p:cNvSpPr>
            <a:spLocks noGrp="1"/>
          </p:cNvSpPr>
          <p:nvPr>
            <p:ph type="title"/>
          </p:nvPr>
        </p:nvSpPr>
        <p:spPr>
          <a:xfrm>
            <a:off x="1270000" y="1778000"/>
            <a:ext cx="9652000" cy="1270000"/>
          </a:xfrm>
        </p:spPr>
        <p:txBody>
          <a:bodyPr>
            <a:normAutofit/>
          </a:bodyPr>
          <a:lstStyle/>
          <a:p>
            <a:r>
              <a:rPr lang="en-US" sz="3600" b="1">
                <a:solidFill>
                  <a:srgbClr val="FFFFFF"/>
                </a:solidFill>
              </a:rPr>
              <a:t>Questions &amp; Answers</a:t>
            </a:r>
          </a:p>
        </p:txBody>
      </p:sp>
      <p:sp>
        <p:nvSpPr>
          <p:cNvPr id="3" name="Text Placeholder 2">
            <a:extLst>
              <a:ext uri="{FF2B5EF4-FFF2-40B4-BE49-F238E27FC236}">
                <a16:creationId xmlns:a16="http://schemas.microsoft.com/office/drawing/2014/main" id="{D68C5ACE-8F73-D29B-8ABA-E533E9A42C0B}"/>
              </a:ext>
            </a:extLst>
          </p:cNvPr>
          <p:cNvSpPr>
            <a:spLocks noGrp="1"/>
          </p:cNvSpPr>
          <p:nvPr>
            <p:ph type="body" idx="1"/>
          </p:nvPr>
        </p:nvSpPr>
        <p:spPr>
          <a:xfrm>
            <a:off x="1270000" y="3302000"/>
            <a:ext cx="9652000" cy="762000"/>
          </a:xfrm>
        </p:spPr>
        <p:txBody>
          <a:bodyPr>
            <a:normAutofit/>
          </a:bodyPr>
          <a:lstStyle/>
          <a:p>
            <a:r>
              <a:rPr lang="en-US" sz="2000">
                <a:solidFill>
                  <a:srgbClr val="FFC107"/>
                </a:solidFill>
              </a:rPr>
              <a:t>Let's discuss your use cases and challenges!</a:t>
            </a:r>
          </a:p>
        </p:txBody>
      </p:sp>
      <p:pic>
        <p:nvPicPr>
          <p:cNvPr id="4" name="Graphic 4" descr="Question mark icon for Q&amp;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89600" y="889000"/>
            <a:ext cx="812800" cy="812800"/>
          </a:xfrm>
          <a:prstGeom prst="rect">
            <a:avLst/>
          </a:prstGeom>
        </p:spPr>
      </p:pic>
    </p:spTree>
    <p:extLst>
      <p:ext uri="{BB962C8B-B14F-4D97-AF65-F5344CB8AC3E}">
        <p14:creationId xmlns:p14="http://schemas.microsoft.com/office/powerpoint/2010/main" val="2076327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A4D">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5534-131E-5A86-A7C4-93E3B11C3D69}"/>
              </a:ext>
            </a:extLst>
          </p:cNvPr>
          <p:cNvSpPr>
            <a:spLocks noGrp="1"/>
          </p:cNvSpPr>
          <p:nvPr>
            <p:ph type="title"/>
          </p:nvPr>
        </p:nvSpPr>
        <p:spPr>
          <a:xfrm>
            <a:off x="1270000" y="2032000"/>
            <a:ext cx="9652000" cy="1270000"/>
          </a:xfrm>
        </p:spPr>
        <p:txBody>
          <a:bodyPr>
            <a:normAutofit/>
          </a:bodyPr>
          <a:lstStyle/>
          <a:p>
            <a:r>
              <a:rPr lang="en-US" sz="4400" b="1">
                <a:solidFill>
                  <a:srgbClr val="FFFFFF"/>
                </a:solidFill>
              </a:rPr>
              <a:t>Thank You!</a:t>
            </a:r>
          </a:p>
        </p:txBody>
      </p:sp>
      <p:sp>
        <p:nvSpPr>
          <p:cNvPr id="3" name="Text Placeholder 2">
            <a:extLst>
              <a:ext uri="{FF2B5EF4-FFF2-40B4-BE49-F238E27FC236}">
                <a16:creationId xmlns:a16="http://schemas.microsoft.com/office/drawing/2014/main" id="{6F9193AD-6554-FA28-695E-777C38FB0368}"/>
              </a:ext>
            </a:extLst>
          </p:cNvPr>
          <p:cNvSpPr>
            <a:spLocks noGrp="1"/>
          </p:cNvSpPr>
          <p:nvPr>
            <p:ph type="body" idx="1"/>
          </p:nvPr>
        </p:nvSpPr>
        <p:spPr>
          <a:xfrm>
            <a:off x="1270000" y="3556000"/>
            <a:ext cx="9652000" cy="762000"/>
          </a:xfrm>
        </p:spPr>
        <p:txBody>
          <a:bodyPr>
            <a:normAutofit/>
          </a:bodyPr>
          <a:lstStyle/>
          <a:p>
            <a:r>
              <a:rPr lang="en-US" sz="2000" dirty="0">
                <a:solidFill>
                  <a:srgbClr val="00A3FF"/>
                </a:solidFill>
              </a:rPr>
              <a:t>Structured Outputs - Build with Confidence</a:t>
            </a:r>
          </a:p>
        </p:txBody>
      </p:sp>
      <p:pic>
        <p:nvPicPr>
          <p:cNvPr id="5" name="Grafik 4" descr="Ein Bild, das Muster, Quadrat, Pixel, Design enthält.&#10;&#10;KI-generierte Inhalte können fehlerhaft sein.">
            <a:extLst>
              <a:ext uri="{FF2B5EF4-FFF2-40B4-BE49-F238E27FC236}">
                <a16:creationId xmlns:a16="http://schemas.microsoft.com/office/drawing/2014/main" id="{FC4513A2-4883-D7E9-6224-E233A3788C50}"/>
              </a:ext>
            </a:extLst>
          </p:cNvPr>
          <p:cNvPicPr>
            <a:picLocks noChangeAspect="1"/>
          </p:cNvPicPr>
          <p:nvPr/>
        </p:nvPicPr>
        <p:blipFill>
          <a:blip r:embed="rId3"/>
          <a:stretch>
            <a:fillRect/>
          </a:stretch>
        </p:blipFill>
        <p:spPr>
          <a:xfrm>
            <a:off x="9173497" y="3615812"/>
            <a:ext cx="2529349" cy="2529349"/>
          </a:xfrm>
          <a:prstGeom prst="rect">
            <a:avLst/>
          </a:prstGeom>
        </p:spPr>
      </p:pic>
    </p:spTree>
    <p:extLst>
      <p:ext uri="{BB962C8B-B14F-4D97-AF65-F5344CB8AC3E}">
        <p14:creationId xmlns:p14="http://schemas.microsoft.com/office/powerpoint/2010/main" val="2694719119"/>
      </p:ext>
    </p:extLst>
  </p:cSld>
  <p:clrMapOvr>
    <a:masterClrMapping/>
  </p:clrMapOvr>
</p:sld>
</file>

<file path=ppt/theme/theme1.xml><?xml version="1.0" encoding="utf-8"?>
<a:theme xmlns:a="http://schemas.openxmlformats.org/drawingml/2006/main" name="Office Theme">
  <a:themeElements>
    <a:clrScheme name="Structured Outputs">
      <a:dk1>
        <a:srgbClr val="2E2E2E"/>
      </a:dk1>
      <a:lt1>
        <a:srgbClr val="FFFFFF"/>
      </a:lt1>
      <a:dk2>
        <a:srgbClr val="1A1A2E"/>
      </a:dk2>
      <a:lt2>
        <a:srgbClr val="F0F4F8"/>
      </a:lt2>
      <a:accent1>
        <a:srgbClr val="0052CC"/>
      </a:accent1>
      <a:accent2>
        <a:srgbClr val="00A3FF"/>
      </a:accent2>
      <a:accent3>
        <a:srgbClr val="FFC107"/>
      </a:accent3>
      <a:accent4>
        <a:srgbClr val="00C853"/>
      </a:accent4>
      <a:accent5>
        <a:srgbClr val="7B61FF"/>
      </a:accent5>
      <a:accent6>
        <a:srgbClr val="FF5252"/>
      </a:accent6>
      <a:hlink>
        <a:srgbClr val="467886"/>
      </a:hlink>
      <a:folHlink>
        <a:srgbClr val="96607D"/>
      </a:folHlink>
    </a:clrScheme>
    <a:fontScheme name="Modern Tech">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AF99D4A-5FF3-8941-AABE-72B06B1EC6FF}">
  <we:reference id="f5f369e5-aa35-49d7-ad7b-638152ddb008" version="1.0.0.0" store="EXCatalog" storeType="EXCatalog"/>
  <we:alternateReferences>
    <we:reference id="WA200010001" version="1.0.0.0" store="de-AT"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993</Words>
  <Application>Microsoft Office PowerPoint</Application>
  <PresentationFormat>Breitbild</PresentationFormat>
  <Paragraphs>102</Paragraphs>
  <Slides>13</Slides>
  <Notes>13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13</vt:i4>
      </vt:variant>
    </vt:vector>
  </HeadingPairs>
  <TitlesOfParts>
    <vt:vector size="19" baseType="lpstr">
      <vt:lpstr>Aptos</vt:lpstr>
      <vt:lpstr>Arial</vt:lpstr>
      <vt:lpstr>Consolas</vt:lpstr>
      <vt:lpstr>Segoe UI</vt:lpstr>
      <vt:lpstr>Segoe UI Semibold</vt:lpstr>
      <vt:lpstr>Office Theme</vt:lpstr>
      <vt:lpstr>Structured Outputs with OpenAI</vt:lpstr>
      <vt:lpstr>Demo: Customer UX Improvement</vt:lpstr>
      <vt:lpstr>Agenda</vt:lpstr>
      <vt:lpstr>What is Structured Output?</vt:lpstr>
      <vt:lpstr>Motivation: Why Structured Output?</vt:lpstr>
      <vt:lpstr>Overview of usages</vt:lpstr>
      <vt:lpstr>Demo: Contract Data Extraction (PDF)</vt:lpstr>
      <vt:lpstr>Context-Free Grammar (CFG)</vt:lpstr>
      <vt:lpstr>Demo: Lark CFG Setup &amp; Code Example</vt:lpstr>
      <vt:lpstr>Demo: Function Calling &amp; Structured Outputs</vt:lpstr>
      <vt:lpstr>Summary &amp; Takeaways</vt:lpstr>
      <vt:lpstr>Questions &amp; Answers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Melanie Bauer</dc:creator>
  <cp:lastModifiedBy>Melanie Bauer</cp:lastModifiedBy>
  <cp:revision>3</cp:revision>
  <dcterms:created xsi:type="dcterms:W3CDTF">2026-03-01T17:09:30Z</dcterms:created>
  <dcterms:modified xsi:type="dcterms:W3CDTF">2026-03-02T21:56:13Z</dcterms:modified>
</cp:coreProperties>
</file>